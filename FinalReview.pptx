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Glacial Indifference Bold" charset="1" panose="00000800000000000000"/>
      <p:regular r:id="rId21"/>
    </p:embeddedFont>
    <p:embeddedFont>
      <p:font typeface="HK Grotesk Italics" charset="1" panose="00000500000000000000"/>
      <p:regular r:id="rId22"/>
    </p:embeddedFont>
    <p:embeddedFont>
      <p:font typeface="HK Grotesk" charset="1" panose="00000500000000000000"/>
      <p:regular r:id="rId23"/>
    </p:embeddedFont>
    <p:embeddedFont>
      <p:font typeface="HK Grotesk Bold"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3105141" y="-1636978"/>
            <a:ext cx="13560673" cy="13560956"/>
            <a:chOff x="0" y="0"/>
            <a:chExt cx="18080897" cy="18081275"/>
          </a:xfrm>
        </p:grpSpPr>
        <p:sp>
          <p:nvSpPr>
            <p:cNvPr name="Freeform 5" id="5"/>
            <p:cNvSpPr/>
            <p:nvPr/>
          </p:nvSpPr>
          <p:spPr>
            <a:xfrm flipH="false" flipV="false" rot="0">
              <a:off x="0" y="0"/>
              <a:ext cx="18080841" cy="18081244"/>
            </a:xfrm>
            <a:custGeom>
              <a:avLst/>
              <a:gdLst/>
              <a:ahLst/>
              <a:cxnLst/>
              <a:rect r="r" b="b" t="t" l="l"/>
              <a:pathLst>
                <a:path h="18081244" w="18080841">
                  <a:moveTo>
                    <a:pt x="0" y="0"/>
                  </a:moveTo>
                  <a:lnTo>
                    <a:pt x="18080841" y="0"/>
                  </a:lnTo>
                  <a:lnTo>
                    <a:pt x="18080841" y="18081244"/>
                  </a:lnTo>
                  <a:lnTo>
                    <a:pt x="0" y="18081244"/>
                  </a:lnTo>
                  <a:lnTo>
                    <a:pt x="0" y="0"/>
                  </a:lnTo>
                  <a:close/>
                </a:path>
              </a:pathLst>
            </a:custGeom>
            <a:blipFill>
              <a:blip r:embed="rId3"/>
              <a:stretch>
                <a:fillRect l="0" t="-20442" r="0" b="-20442"/>
              </a:stretch>
            </a:blipFill>
          </p:spPr>
        </p:sp>
      </p:grpSp>
      <p:grpSp>
        <p:nvGrpSpPr>
          <p:cNvPr name="Group 6" id="6"/>
          <p:cNvGrpSpPr/>
          <p:nvPr/>
        </p:nvGrpSpPr>
        <p:grpSpPr>
          <a:xfrm rot="0">
            <a:off x="3635884" y="2646661"/>
            <a:ext cx="13029930" cy="2742823"/>
            <a:chOff x="0" y="0"/>
            <a:chExt cx="17373240" cy="3657097"/>
          </a:xfrm>
        </p:grpSpPr>
        <p:sp>
          <p:nvSpPr>
            <p:cNvPr name="Freeform 7" id="7"/>
            <p:cNvSpPr/>
            <p:nvPr/>
          </p:nvSpPr>
          <p:spPr>
            <a:xfrm flipH="false" flipV="false" rot="0">
              <a:off x="0" y="0"/>
              <a:ext cx="17373240" cy="3657097"/>
            </a:xfrm>
            <a:custGeom>
              <a:avLst/>
              <a:gdLst/>
              <a:ahLst/>
              <a:cxnLst/>
              <a:rect r="r" b="b" t="t" l="l"/>
              <a:pathLst>
                <a:path h="3657097" w="17373240">
                  <a:moveTo>
                    <a:pt x="0" y="0"/>
                  </a:moveTo>
                  <a:lnTo>
                    <a:pt x="17373240" y="0"/>
                  </a:lnTo>
                  <a:lnTo>
                    <a:pt x="17373240" y="3657097"/>
                  </a:lnTo>
                  <a:lnTo>
                    <a:pt x="0" y="3657097"/>
                  </a:lnTo>
                  <a:close/>
                </a:path>
              </a:pathLst>
            </a:custGeom>
            <a:solidFill>
              <a:srgbClr val="000000">
                <a:alpha val="0"/>
              </a:srgbClr>
            </a:solidFill>
          </p:spPr>
        </p:sp>
        <p:sp>
          <p:nvSpPr>
            <p:cNvPr name="TextBox 8" id="8"/>
            <p:cNvSpPr txBox="true"/>
            <p:nvPr/>
          </p:nvSpPr>
          <p:spPr>
            <a:xfrm>
              <a:off x="0" y="28575"/>
              <a:ext cx="17373240" cy="3628522"/>
            </a:xfrm>
            <a:prstGeom prst="rect">
              <a:avLst/>
            </a:prstGeom>
          </p:spPr>
          <p:txBody>
            <a:bodyPr anchor="t" rtlCol="false" tIns="0" lIns="0" bIns="0" rIns="0"/>
            <a:lstStyle/>
            <a:p>
              <a:pPr algn="ctr">
                <a:lnSpc>
                  <a:spcPts val="6501"/>
                </a:lnSpc>
              </a:pPr>
              <a:r>
                <a:rPr lang="en-US" sz="5753" b="true">
                  <a:solidFill>
                    <a:srgbClr val="FFFFFF"/>
                  </a:solidFill>
                  <a:latin typeface="Glacial Indifference Bold"/>
                  <a:ea typeface="Glacial Indifference Bold"/>
                  <a:cs typeface="Glacial Indifference Bold"/>
                  <a:sym typeface="Glacial Indifference Bold"/>
                </a:rPr>
                <a:t>Facial Emotion and Sleep Detection With Audio Feedback: A Dual-Purpose AI System</a:t>
              </a:r>
            </a:p>
          </p:txBody>
        </p:sp>
      </p:grpSp>
      <p:grpSp>
        <p:nvGrpSpPr>
          <p:cNvPr name="Group 9" id="9"/>
          <p:cNvGrpSpPr/>
          <p:nvPr/>
        </p:nvGrpSpPr>
        <p:grpSpPr>
          <a:xfrm rot="0">
            <a:off x="6102571" y="6339162"/>
            <a:ext cx="8471198" cy="2124075"/>
            <a:chOff x="0" y="0"/>
            <a:chExt cx="11294931" cy="2832100"/>
          </a:xfrm>
        </p:grpSpPr>
        <p:sp>
          <p:nvSpPr>
            <p:cNvPr name="Freeform 10" id="10"/>
            <p:cNvSpPr/>
            <p:nvPr/>
          </p:nvSpPr>
          <p:spPr>
            <a:xfrm flipH="false" flipV="false" rot="0">
              <a:off x="0" y="0"/>
              <a:ext cx="11294931" cy="2832100"/>
            </a:xfrm>
            <a:custGeom>
              <a:avLst/>
              <a:gdLst/>
              <a:ahLst/>
              <a:cxnLst/>
              <a:rect r="r" b="b" t="t" l="l"/>
              <a:pathLst>
                <a:path h="2832100" w="11294931">
                  <a:moveTo>
                    <a:pt x="0" y="0"/>
                  </a:moveTo>
                  <a:lnTo>
                    <a:pt x="11294931" y="0"/>
                  </a:lnTo>
                  <a:lnTo>
                    <a:pt x="11294931" y="2832100"/>
                  </a:lnTo>
                  <a:lnTo>
                    <a:pt x="0" y="2832100"/>
                  </a:lnTo>
                  <a:close/>
                </a:path>
              </a:pathLst>
            </a:custGeom>
            <a:solidFill>
              <a:srgbClr val="000000">
                <a:alpha val="0"/>
              </a:srgbClr>
            </a:solidFill>
          </p:spPr>
        </p:sp>
        <p:sp>
          <p:nvSpPr>
            <p:cNvPr name="TextBox 11" id="11"/>
            <p:cNvSpPr txBox="true"/>
            <p:nvPr/>
          </p:nvSpPr>
          <p:spPr>
            <a:xfrm>
              <a:off x="0" y="-66675"/>
              <a:ext cx="11294931" cy="2898775"/>
            </a:xfrm>
            <a:prstGeom prst="rect">
              <a:avLst/>
            </a:prstGeom>
          </p:spPr>
          <p:txBody>
            <a:bodyPr anchor="t" rtlCol="false" tIns="0" lIns="0" bIns="0" rIns="0"/>
            <a:lstStyle/>
            <a:p>
              <a:pPr algn="ctr">
                <a:lnSpc>
                  <a:spcPts val="4200"/>
                </a:lnSpc>
              </a:pPr>
              <a:r>
                <a:rPr lang="en-US" sz="3000" i="true">
                  <a:solidFill>
                    <a:srgbClr val="FFFFFF"/>
                  </a:solidFill>
                  <a:latin typeface="HK Grotesk Italics"/>
                  <a:ea typeface="HK Grotesk Italics"/>
                  <a:cs typeface="HK Grotesk Italics"/>
                  <a:sym typeface="HK Grotesk Italics"/>
                </a:rPr>
                <a:t>M JAYESH - CB.SC.U4AIE24128</a:t>
              </a:r>
            </a:p>
            <a:p>
              <a:pPr algn="ctr">
                <a:lnSpc>
                  <a:spcPts val="4200"/>
                </a:lnSpc>
              </a:pPr>
              <a:r>
                <a:rPr lang="en-US" sz="3000" i="true">
                  <a:solidFill>
                    <a:srgbClr val="FFFFFF"/>
                  </a:solidFill>
                  <a:latin typeface="HK Grotesk Italics"/>
                  <a:ea typeface="HK Grotesk Italics"/>
                  <a:cs typeface="HK Grotesk Italics"/>
                  <a:sym typeface="HK Grotesk Italics"/>
                </a:rPr>
                <a:t>M RAKESH - CB.SC.U4AIE24134</a:t>
              </a:r>
            </a:p>
            <a:p>
              <a:pPr algn="ctr">
                <a:lnSpc>
                  <a:spcPts val="4200"/>
                </a:lnSpc>
              </a:pPr>
              <a:r>
                <a:rPr lang="en-US" sz="3000" i="true">
                  <a:solidFill>
                    <a:srgbClr val="FFFFFF"/>
                  </a:solidFill>
                  <a:latin typeface="HK Grotesk Italics"/>
                  <a:ea typeface="HK Grotesk Italics"/>
                  <a:cs typeface="HK Grotesk Italics"/>
                  <a:sym typeface="HK Grotesk Italics"/>
                </a:rPr>
                <a:t>CH VIRINCHI SAI - CB.SC.U4AIE24158</a:t>
              </a:r>
            </a:p>
            <a:p>
              <a:pPr algn="ctr">
                <a:lnSpc>
                  <a:spcPts val="4200"/>
                </a:lnSpc>
              </a:pPr>
              <a:r>
                <a:rPr lang="en-US" sz="3000" i="true">
                  <a:solidFill>
                    <a:srgbClr val="FFFFFF"/>
                  </a:solidFill>
                  <a:latin typeface="HK Grotesk Italics"/>
                  <a:ea typeface="HK Grotesk Italics"/>
                  <a:cs typeface="HK Grotesk Italics"/>
                  <a:sym typeface="HK Grotesk Italics"/>
                </a:rPr>
                <a:t>K JATIN CHANDRA GUPTA - CB.SC.U4AIE24162 </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tru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blipFill>
              <a:blip r:embed="rId2"/>
              <a:stretch>
                <a:fillRect l="0" t="0" r="0" b="0"/>
              </a:stretch>
            </a:blipFill>
          </p:spPr>
        </p:sp>
      </p:grpSp>
      <p:grpSp>
        <p:nvGrpSpPr>
          <p:cNvPr name="Group 4" id="4"/>
          <p:cNvGrpSpPr/>
          <p:nvPr/>
        </p:nvGrpSpPr>
        <p:grpSpPr>
          <a:xfrm rot="5400000">
            <a:off x="1660884" y="-1641834"/>
            <a:ext cx="10287000" cy="13570668"/>
            <a:chOff x="0" y="0"/>
            <a:chExt cx="13716000" cy="18094224"/>
          </a:xfrm>
        </p:grpSpPr>
        <p:sp>
          <p:nvSpPr>
            <p:cNvPr name="Freeform 5" id="5"/>
            <p:cNvSpPr/>
            <p:nvPr/>
          </p:nvSpPr>
          <p:spPr>
            <a:xfrm flipH="false" flipV="false" rot="0">
              <a:off x="0" y="0"/>
              <a:ext cx="13716000" cy="18094198"/>
            </a:xfrm>
            <a:custGeom>
              <a:avLst/>
              <a:gdLst/>
              <a:ahLst/>
              <a:cxnLst/>
              <a:rect r="r" b="b" t="t" l="l"/>
              <a:pathLst>
                <a:path h="18094198" w="13716000">
                  <a:moveTo>
                    <a:pt x="0" y="0"/>
                  </a:moveTo>
                  <a:lnTo>
                    <a:pt x="13716000" y="0"/>
                  </a:lnTo>
                  <a:lnTo>
                    <a:pt x="13716000" y="18094198"/>
                  </a:lnTo>
                  <a:lnTo>
                    <a:pt x="0" y="18094198"/>
                  </a:lnTo>
                  <a:lnTo>
                    <a:pt x="0" y="0"/>
                  </a:lnTo>
                  <a:close/>
                </a:path>
              </a:pathLst>
            </a:custGeom>
            <a:blipFill>
              <a:blip r:embed="rId3"/>
              <a:stretch>
                <a:fillRect l="0" t="-3398" r="0" b="-3398"/>
              </a:stretch>
            </a:blipFill>
          </p:spPr>
        </p:sp>
      </p:grpSp>
      <p:grpSp>
        <p:nvGrpSpPr>
          <p:cNvPr name="Group 6" id="6"/>
          <p:cNvGrpSpPr/>
          <p:nvPr/>
        </p:nvGrpSpPr>
        <p:grpSpPr>
          <a:xfrm rot="0">
            <a:off x="634185" y="1709950"/>
            <a:ext cx="7899970" cy="1044320"/>
            <a:chOff x="0" y="0"/>
            <a:chExt cx="10533293" cy="1392427"/>
          </a:xfrm>
        </p:grpSpPr>
        <p:sp>
          <p:nvSpPr>
            <p:cNvPr name="Freeform 7" id="7"/>
            <p:cNvSpPr/>
            <p:nvPr/>
          </p:nvSpPr>
          <p:spPr>
            <a:xfrm flipH="false" flipV="false" rot="0">
              <a:off x="0" y="0"/>
              <a:ext cx="10533293" cy="1392427"/>
            </a:xfrm>
            <a:custGeom>
              <a:avLst/>
              <a:gdLst/>
              <a:ahLst/>
              <a:cxnLst/>
              <a:rect r="r" b="b" t="t" l="l"/>
              <a:pathLst>
                <a:path h="1392427" w="10533293">
                  <a:moveTo>
                    <a:pt x="0" y="0"/>
                  </a:moveTo>
                  <a:lnTo>
                    <a:pt x="10533293" y="0"/>
                  </a:lnTo>
                  <a:lnTo>
                    <a:pt x="10533293" y="1392427"/>
                  </a:lnTo>
                  <a:lnTo>
                    <a:pt x="0" y="1392427"/>
                  </a:lnTo>
                  <a:close/>
                </a:path>
              </a:pathLst>
            </a:custGeom>
            <a:solidFill>
              <a:srgbClr val="000000">
                <a:alpha val="0"/>
              </a:srgbClr>
            </a:solidFill>
          </p:spPr>
        </p:sp>
        <p:sp>
          <p:nvSpPr>
            <p:cNvPr name="TextBox 8" id="8"/>
            <p:cNvSpPr txBox="true"/>
            <p:nvPr/>
          </p:nvSpPr>
          <p:spPr>
            <a:xfrm>
              <a:off x="0" y="38100"/>
              <a:ext cx="10533293" cy="1354327"/>
            </a:xfrm>
            <a:prstGeom prst="rect">
              <a:avLst/>
            </a:prstGeom>
          </p:spPr>
          <p:txBody>
            <a:bodyPr anchor="t" rtlCol="false" tIns="0" lIns="0" bIns="0" rIns="0"/>
            <a:lstStyle/>
            <a:p>
              <a:pPr algn="l">
                <a:lnSpc>
                  <a:spcPts val="8038"/>
                </a:lnSpc>
              </a:pPr>
              <a:r>
                <a:rPr lang="en-US" sz="7113" b="true">
                  <a:solidFill>
                    <a:srgbClr val="FFFFFF"/>
                  </a:solidFill>
                  <a:latin typeface="Glacial Indifference Bold"/>
                  <a:ea typeface="Glacial Indifference Bold"/>
                  <a:cs typeface="Glacial Indifference Bold"/>
                  <a:sym typeface="Glacial Indifference Bold"/>
                </a:rPr>
                <a:t>INTRODUCTION</a:t>
              </a:r>
            </a:p>
          </p:txBody>
        </p:sp>
      </p:grpSp>
      <p:grpSp>
        <p:nvGrpSpPr>
          <p:cNvPr name="Group 9" id="9"/>
          <p:cNvGrpSpPr/>
          <p:nvPr/>
        </p:nvGrpSpPr>
        <p:grpSpPr>
          <a:xfrm rot="0">
            <a:off x="634185" y="3258210"/>
            <a:ext cx="9101140" cy="6096307"/>
            <a:chOff x="0" y="0"/>
            <a:chExt cx="12134854" cy="8128409"/>
          </a:xfrm>
        </p:grpSpPr>
        <p:sp>
          <p:nvSpPr>
            <p:cNvPr name="Freeform 10" id="10"/>
            <p:cNvSpPr/>
            <p:nvPr/>
          </p:nvSpPr>
          <p:spPr>
            <a:xfrm flipH="false" flipV="false" rot="0">
              <a:off x="0" y="0"/>
              <a:ext cx="12134854" cy="8128409"/>
            </a:xfrm>
            <a:custGeom>
              <a:avLst/>
              <a:gdLst/>
              <a:ahLst/>
              <a:cxnLst/>
              <a:rect r="r" b="b" t="t" l="l"/>
              <a:pathLst>
                <a:path h="8128409" w="12134854">
                  <a:moveTo>
                    <a:pt x="0" y="0"/>
                  </a:moveTo>
                  <a:lnTo>
                    <a:pt x="12134854" y="0"/>
                  </a:lnTo>
                  <a:lnTo>
                    <a:pt x="12134854" y="8128409"/>
                  </a:lnTo>
                  <a:lnTo>
                    <a:pt x="0" y="8128409"/>
                  </a:lnTo>
                  <a:close/>
                </a:path>
              </a:pathLst>
            </a:custGeom>
            <a:solidFill>
              <a:srgbClr val="000000">
                <a:alpha val="0"/>
              </a:srgbClr>
            </a:solidFill>
          </p:spPr>
        </p:sp>
        <p:sp>
          <p:nvSpPr>
            <p:cNvPr name="TextBox 11" id="11"/>
            <p:cNvSpPr txBox="true"/>
            <p:nvPr/>
          </p:nvSpPr>
          <p:spPr>
            <a:xfrm>
              <a:off x="0" y="-76200"/>
              <a:ext cx="12134854" cy="8204609"/>
            </a:xfrm>
            <a:prstGeom prst="rect">
              <a:avLst/>
            </a:prstGeom>
          </p:spPr>
          <p:txBody>
            <a:bodyPr anchor="t" rtlCol="false" tIns="0" lIns="0" bIns="0" rIns="0"/>
            <a:lstStyle/>
            <a:p>
              <a:pPr algn="l">
                <a:lnSpc>
                  <a:spcPts val="5319"/>
                </a:lnSpc>
              </a:pPr>
              <a:r>
                <a:rPr lang="en-US" sz="3800">
                  <a:solidFill>
                    <a:srgbClr val="FFFFFF"/>
                  </a:solidFill>
                  <a:latin typeface="HK Grotesk"/>
                  <a:ea typeface="HK Grotesk"/>
                  <a:cs typeface="HK Grotesk"/>
                  <a:sym typeface="HK Grotesk"/>
                </a:rPr>
                <a:t>Facial Emotion Recognition (FER) is a deep learning-based computer vision technique that detects human emotions from facial expressions. This project builds a real-time CNN-based model that classifies 8 emotions, including “Sleep.” It helps blind people through audio feedback and alerts drivers when drowsiness is detected, improving both accessibility and safety.</a:t>
              </a:r>
            </a:p>
          </p:txBody>
        </p:sp>
      </p:grpSp>
      <p:grpSp>
        <p:nvGrpSpPr>
          <p:cNvPr name="Group 12" id="12"/>
          <p:cNvGrpSpPr/>
          <p:nvPr/>
        </p:nvGrpSpPr>
        <p:grpSpPr>
          <a:xfrm rot="0">
            <a:off x="10051315" y="1709950"/>
            <a:ext cx="7618849" cy="6867100"/>
            <a:chOff x="0" y="0"/>
            <a:chExt cx="11893075" cy="10719589"/>
          </a:xfrm>
        </p:grpSpPr>
        <p:sp>
          <p:nvSpPr>
            <p:cNvPr name="Freeform 13" id="13"/>
            <p:cNvSpPr/>
            <p:nvPr/>
          </p:nvSpPr>
          <p:spPr>
            <a:xfrm flipH="false" flipV="false" rot="0">
              <a:off x="0" y="0"/>
              <a:ext cx="11893042" cy="10719550"/>
            </a:xfrm>
            <a:custGeom>
              <a:avLst/>
              <a:gdLst/>
              <a:ahLst/>
              <a:cxnLst/>
              <a:rect r="r" b="b" t="t" l="l"/>
              <a:pathLst>
                <a:path h="10719550" w="11893042">
                  <a:moveTo>
                    <a:pt x="0" y="0"/>
                  </a:moveTo>
                  <a:lnTo>
                    <a:pt x="11893042" y="0"/>
                  </a:lnTo>
                  <a:lnTo>
                    <a:pt x="11893042" y="10719550"/>
                  </a:lnTo>
                  <a:lnTo>
                    <a:pt x="0" y="10719550"/>
                  </a:lnTo>
                  <a:lnTo>
                    <a:pt x="0" y="0"/>
                  </a:lnTo>
                  <a:close/>
                </a:path>
              </a:pathLst>
            </a:custGeom>
            <a:blipFill>
              <a:blip r:embed="rId4"/>
              <a:stretch>
                <a:fillRect l="-1357" t="0" r="-1357"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tru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blipFill>
              <a:blip r:embed="rId2"/>
              <a:stretch>
                <a:fillRect l="0" t="0" r="0" b="0"/>
              </a:stretch>
            </a:blipFill>
          </p:spPr>
        </p:sp>
      </p:grpSp>
      <p:grpSp>
        <p:nvGrpSpPr>
          <p:cNvPr name="Group 4" id="4"/>
          <p:cNvGrpSpPr/>
          <p:nvPr/>
        </p:nvGrpSpPr>
        <p:grpSpPr>
          <a:xfrm rot="0">
            <a:off x="1697042" y="332661"/>
            <a:ext cx="16202270" cy="9621678"/>
            <a:chOff x="0" y="0"/>
            <a:chExt cx="23688782" cy="14067524"/>
          </a:xfrm>
        </p:grpSpPr>
        <p:sp>
          <p:nvSpPr>
            <p:cNvPr name="Freeform 5" id="5"/>
            <p:cNvSpPr/>
            <p:nvPr/>
          </p:nvSpPr>
          <p:spPr>
            <a:xfrm flipH="false" flipV="false" rot="0">
              <a:off x="0" y="0"/>
              <a:ext cx="23688749" cy="14067583"/>
            </a:xfrm>
            <a:custGeom>
              <a:avLst/>
              <a:gdLst/>
              <a:ahLst/>
              <a:cxnLst/>
              <a:rect r="r" b="b" t="t" l="l"/>
              <a:pathLst>
                <a:path h="14067583" w="23688749">
                  <a:moveTo>
                    <a:pt x="0" y="0"/>
                  </a:moveTo>
                  <a:lnTo>
                    <a:pt x="23688749" y="0"/>
                  </a:lnTo>
                  <a:lnTo>
                    <a:pt x="23688749" y="14067583"/>
                  </a:lnTo>
                  <a:lnTo>
                    <a:pt x="0" y="14067583"/>
                  </a:lnTo>
                  <a:lnTo>
                    <a:pt x="0" y="0"/>
                  </a:lnTo>
                  <a:close/>
                </a:path>
              </a:pathLst>
            </a:custGeom>
            <a:blipFill>
              <a:blip r:embed="rId3"/>
              <a:stretch>
                <a:fillRect l="0" t="-68621" r="0" b="-68621"/>
              </a:stretch>
            </a:blipFill>
          </p:spPr>
        </p:sp>
      </p:grpSp>
      <p:grpSp>
        <p:nvGrpSpPr>
          <p:cNvPr name="Group 6" id="6"/>
          <p:cNvGrpSpPr/>
          <p:nvPr/>
        </p:nvGrpSpPr>
        <p:grpSpPr>
          <a:xfrm rot="0">
            <a:off x="757161" y="1821295"/>
            <a:ext cx="7646911" cy="1054780"/>
            <a:chOff x="0" y="0"/>
            <a:chExt cx="10195881" cy="1406373"/>
          </a:xfrm>
        </p:grpSpPr>
        <p:sp>
          <p:nvSpPr>
            <p:cNvPr name="Freeform 7" id="7"/>
            <p:cNvSpPr/>
            <p:nvPr/>
          </p:nvSpPr>
          <p:spPr>
            <a:xfrm flipH="false" flipV="false" rot="0">
              <a:off x="0" y="0"/>
              <a:ext cx="10195882" cy="1406373"/>
            </a:xfrm>
            <a:custGeom>
              <a:avLst/>
              <a:gdLst/>
              <a:ahLst/>
              <a:cxnLst/>
              <a:rect r="r" b="b" t="t" l="l"/>
              <a:pathLst>
                <a:path h="1406373" w="10195882">
                  <a:moveTo>
                    <a:pt x="0" y="0"/>
                  </a:moveTo>
                  <a:lnTo>
                    <a:pt x="10195882" y="0"/>
                  </a:lnTo>
                  <a:lnTo>
                    <a:pt x="10195882" y="1406373"/>
                  </a:lnTo>
                  <a:lnTo>
                    <a:pt x="0" y="1406373"/>
                  </a:lnTo>
                  <a:close/>
                </a:path>
              </a:pathLst>
            </a:custGeom>
            <a:solidFill>
              <a:srgbClr val="000000">
                <a:alpha val="0"/>
              </a:srgbClr>
            </a:solidFill>
          </p:spPr>
        </p:sp>
        <p:sp>
          <p:nvSpPr>
            <p:cNvPr name="TextBox 8" id="8"/>
            <p:cNvSpPr txBox="true"/>
            <p:nvPr/>
          </p:nvSpPr>
          <p:spPr>
            <a:xfrm>
              <a:off x="0" y="38100"/>
              <a:ext cx="10195881" cy="1368273"/>
            </a:xfrm>
            <a:prstGeom prst="rect">
              <a:avLst/>
            </a:prstGeom>
          </p:spPr>
          <p:txBody>
            <a:bodyPr anchor="t" rtlCol="false" tIns="0" lIns="0" bIns="0" rIns="0"/>
            <a:lstStyle/>
            <a:p>
              <a:pPr algn="ctr">
                <a:lnSpc>
                  <a:spcPts val="8116"/>
                </a:lnSpc>
              </a:pPr>
              <a:r>
                <a:rPr lang="en-US" sz="7183" b="true">
                  <a:solidFill>
                    <a:srgbClr val="FFFFFF"/>
                  </a:solidFill>
                  <a:latin typeface="Glacial Indifference Bold"/>
                  <a:ea typeface="Glacial Indifference Bold"/>
                  <a:cs typeface="Glacial Indifference Bold"/>
                  <a:sym typeface="Glacial Indifference Bold"/>
                </a:rPr>
                <a:t>OBJECTIVES</a:t>
              </a:r>
            </a:p>
          </p:txBody>
        </p:sp>
      </p:grpSp>
      <p:grpSp>
        <p:nvGrpSpPr>
          <p:cNvPr name="Group 9" id="9"/>
          <p:cNvGrpSpPr/>
          <p:nvPr/>
        </p:nvGrpSpPr>
        <p:grpSpPr>
          <a:xfrm rot="0">
            <a:off x="1510042" y="3499438"/>
            <a:ext cx="14568564" cy="5429461"/>
            <a:chOff x="0" y="0"/>
            <a:chExt cx="14612512" cy="5445839"/>
          </a:xfrm>
        </p:grpSpPr>
        <p:sp>
          <p:nvSpPr>
            <p:cNvPr name="Freeform 10" id="10"/>
            <p:cNvSpPr/>
            <p:nvPr/>
          </p:nvSpPr>
          <p:spPr>
            <a:xfrm flipH="false" flipV="false" rot="0">
              <a:off x="0" y="0"/>
              <a:ext cx="14612511" cy="5445839"/>
            </a:xfrm>
            <a:custGeom>
              <a:avLst/>
              <a:gdLst/>
              <a:ahLst/>
              <a:cxnLst/>
              <a:rect r="r" b="b" t="t" l="l"/>
              <a:pathLst>
                <a:path h="5445839" w="14612511">
                  <a:moveTo>
                    <a:pt x="0" y="0"/>
                  </a:moveTo>
                  <a:lnTo>
                    <a:pt x="14612511" y="0"/>
                  </a:lnTo>
                  <a:lnTo>
                    <a:pt x="14612511" y="5445839"/>
                  </a:lnTo>
                  <a:lnTo>
                    <a:pt x="0" y="5445839"/>
                  </a:lnTo>
                  <a:close/>
                </a:path>
              </a:pathLst>
            </a:custGeom>
            <a:solidFill>
              <a:srgbClr val="000000">
                <a:alpha val="0"/>
              </a:srgbClr>
            </a:solidFill>
          </p:spPr>
        </p:sp>
        <p:sp>
          <p:nvSpPr>
            <p:cNvPr name="TextBox 11" id="11"/>
            <p:cNvSpPr txBox="true"/>
            <p:nvPr/>
          </p:nvSpPr>
          <p:spPr>
            <a:xfrm>
              <a:off x="0" y="-76200"/>
              <a:ext cx="14612512" cy="5522039"/>
            </a:xfrm>
            <a:prstGeom prst="rect">
              <a:avLst/>
            </a:prstGeom>
          </p:spPr>
          <p:txBody>
            <a:bodyPr anchor="t" rtlCol="false" tIns="0" lIns="0" bIns="0" rIns="0"/>
            <a:lstStyle/>
            <a:p>
              <a:pPr algn="l" marL="820421" indent="-410210" lvl="1">
                <a:lnSpc>
                  <a:spcPts val="5320"/>
                </a:lnSpc>
                <a:buFont typeface="Arial"/>
                <a:buChar char="•"/>
              </a:pPr>
              <a:r>
                <a:rPr lang="en-US" sz="3800">
                  <a:solidFill>
                    <a:srgbClr val="FFFFFF"/>
                  </a:solidFill>
                  <a:latin typeface="HK Grotesk"/>
                  <a:ea typeface="HK Grotesk"/>
                  <a:cs typeface="HK Grotesk"/>
                  <a:sym typeface="HK Grotesk"/>
                </a:rPr>
                <a:t>To dev</a:t>
              </a:r>
              <a:r>
                <a:rPr lang="en-US" sz="3800">
                  <a:solidFill>
                    <a:srgbClr val="FFFFFF"/>
                  </a:solidFill>
                  <a:latin typeface="HK Grotesk"/>
                  <a:ea typeface="HK Grotesk"/>
                  <a:cs typeface="HK Grotesk"/>
                  <a:sym typeface="HK Grotesk"/>
                </a:rPr>
                <a:t>elop a real-time system for detecting facial emotions and sleepiness.</a:t>
              </a:r>
            </a:p>
            <a:p>
              <a:pPr algn="l" marL="820421" indent="-410210" lvl="1">
                <a:lnSpc>
                  <a:spcPts val="5320"/>
                </a:lnSpc>
                <a:buFont typeface="Arial"/>
                <a:buChar char="•"/>
              </a:pPr>
              <a:r>
                <a:rPr lang="en-US" sz="3800">
                  <a:solidFill>
                    <a:srgbClr val="FFFFFF"/>
                  </a:solidFill>
                  <a:latin typeface="HK Grotesk"/>
                  <a:ea typeface="HK Grotesk"/>
                  <a:cs typeface="HK Grotesk"/>
                  <a:sym typeface="HK Grotesk"/>
                </a:rPr>
                <a:t>To train a CNN model capable of recognizing 8 emotions including "Sleep".</a:t>
              </a:r>
            </a:p>
            <a:p>
              <a:pPr algn="l" marL="820421" indent="-410210" lvl="1">
                <a:lnSpc>
                  <a:spcPts val="5320"/>
                </a:lnSpc>
                <a:buFont typeface="Arial"/>
                <a:buChar char="•"/>
              </a:pPr>
              <a:r>
                <a:rPr lang="en-US" sz="3800">
                  <a:solidFill>
                    <a:srgbClr val="FFFFFF"/>
                  </a:solidFill>
                  <a:latin typeface="HK Grotesk"/>
                  <a:ea typeface="HK Grotesk"/>
                  <a:cs typeface="HK Grotesk"/>
                  <a:sym typeface="HK Grotesk"/>
                </a:rPr>
                <a:t>To provide audio feedback using Text-to-Speech for blind users.</a:t>
              </a:r>
            </a:p>
            <a:p>
              <a:pPr algn="l" marL="820421" indent="-410210" lvl="1">
                <a:lnSpc>
                  <a:spcPts val="5320"/>
                </a:lnSpc>
                <a:buFont typeface="Arial"/>
                <a:buChar char="•"/>
              </a:pPr>
              <a:r>
                <a:rPr lang="en-US" sz="3800">
                  <a:solidFill>
                    <a:srgbClr val="FFFFFF"/>
                  </a:solidFill>
                  <a:latin typeface="HK Grotesk"/>
                  <a:ea typeface="HK Grotesk"/>
                  <a:cs typeface="HK Grotesk"/>
                  <a:sym typeface="HK Grotesk"/>
                </a:rPr>
                <a:t>To detect drowsiness and alert drivers in real-time.</a:t>
              </a:r>
            </a:p>
            <a:p>
              <a:pPr algn="l" marL="820421" indent="-410210" lvl="1">
                <a:lnSpc>
                  <a:spcPts val="5321"/>
                </a:lnSpc>
                <a:buFont typeface="Arial"/>
                <a:buChar char="•"/>
              </a:pPr>
              <a:r>
                <a:rPr lang="en-US" sz="3800">
                  <a:solidFill>
                    <a:srgbClr val="FFFFFF"/>
                  </a:solidFill>
                  <a:latin typeface="HK Grotesk"/>
                  <a:ea typeface="HK Grotesk"/>
                  <a:cs typeface="HK Grotesk"/>
                  <a:sym typeface="HK Grotesk"/>
                </a:rPr>
                <a:t>To implement face detection and classification using computer vision and deep learning techniques.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5400000">
            <a:off x="3856946" y="-3856946"/>
            <a:ext cx="10287000" cy="18000893"/>
            <a:chOff x="0" y="0"/>
            <a:chExt cx="13716000" cy="24001191"/>
          </a:xfrm>
        </p:grpSpPr>
        <p:sp>
          <p:nvSpPr>
            <p:cNvPr name="Freeform 5" id="5"/>
            <p:cNvSpPr/>
            <p:nvPr/>
          </p:nvSpPr>
          <p:spPr>
            <a:xfrm flipH="false" flipV="true" rot="0">
              <a:off x="0" y="0"/>
              <a:ext cx="13716000" cy="24001222"/>
            </a:xfrm>
            <a:custGeom>
              <a:avLst/>
              <a:gdLst/>
              <a:ahLst/>
              <a:cxnLst/>
              <a:rect r="r" b="b" t="t" l="l"/>
              <a:pathLst>
                <a:path h="24001222" w="13716000">
                  <a:moveTo>
                    <a:pt x="0" y="24001222"/>
                  </a:moveTo>
                  <a:lnTo>
                    <a:pt x="13716000" y="24001222"/>
                  </a:lnTo>
                  <a:lnTo>
                    <a:pt x="13716000" y="0"/>
                  </a:lnTo>
                  <a:lnTo>
                    <a:pt x="0" y="0"/>
                  </a:lnTo>
                  <a:lnTo>
                    <a:pt x="0" y="24001222"/>
                  </a:lnTo>
                  <a:close/>
                </a:path>
              </a:pathLst>
            </a:custGeom>
            <a:blipFill>
              <a:blip r:embed="rId3"/>
              <a:stretch>
                <a:fillRect l="-12101" t="0" r="-12101" b="0"/>
              </a:stretch>
            </a:blipFill>
          </p:spPr>
        </p:sp>
      </p:grpSp>
      <p:grpSp>
        <p:nvGrpSpPr>
          <p:cNvPr name="Group 6" id="6"/>
          <p:cNvGrpSpPr/>
          <p:nvPr/>
        </p:nvGrpSpPr>
        <p:grpSpPr>
          <a:xfrm rot="0">
            <a:off x="752981" y="1268235"/>
            <a:ext cx="3716250" cy="5405454"/>
            <a:chOff x="0" y="0"/>
            <a:chExt cx="4955000" cy="7207272"/>
          </a:xfrm>
        </p:grpSpPr>
        <p:sp>
          <p:nvSpPr>
            <p:cNvPr name="Freeform 7" id="7"/>
            <p:cNvSpPr/>
            <p:nvPr/>
          </p:nvSpPr>
          <p:spPr>
            <a:xfrm flipH="false" flipV="false" rot="0">
              <a:off x="0" y="0"/>
              <a:ext cx="4955032" cy="7207250"/>
            </a:xfrm>
            <a:custGeom>
              <a:avLst/>
              <a:gdLst/>
              <a:ahLst/>
              <a:cxnLst/>
              <a:rect r="r" b="b" t="t" l="l"/>
              <a:pathLst>
                <a:path h="7207250" w="4955032">
                  <a:moveTo>
                    <a:pt x="0" y="0"/>
                  </a:moveTo>
                  <a:lnTo>
                    <a:pt x="4955032" y="0"/>
                  </a:lnTo>
                  <a:lnTo>
                    <a:pt x="4955032" y="7207250"/>
                  </a:lnTo>
                  <a:lnTo>
                    <a:pt x="0" y="7207250"/>
                  </a:lnTo>
                  <a:lnTo>
                    <a:pt x="0" y="0"/>
                  </a:lnTo>
                  <a:close/>
                </a:path>
              </a:pathLst>
            </a:custGeom>
            <a:blipFill>
              <a:blip r:embed="rId4"/>
              <a:stretch>
                <a:fillRect l="-6" t="0" r="-5" b="0"/>
              </a:stretch>
            </a:blipFill>
          </p:spPr>
        </p:sp>
      </p:grpSp>
      <p:grpSp>
        <p:nvGrpSpPr>
          <p:cNvPr name="Group 8" id="8"/>
          <p:cNvGrpSpPr/>
          <p:nvPr/>
        </p:nvGrpSpPr>
        <p:grpSpPr>
          <a:xfrm rot="0">
            <a:off x="5821211" y="1531783"/>
            <a:ext cx="7103388" cy="1045121"/>
            <a:chOff x="0" y="0"/>
            <a:chExt cx="9471184" cy="1393495"/>
          </a:xfrm>
        </p:grpSpPr>
        <p:sp>
          <p:nvSpPr>
            <p:cNvPr name="Freeform 9" id="9"/>
            <p:cNvSpPr/>
            <p:nvPr/>
          </p:nvSpPr>
          <p:spPr>
            <a:xfrm flipH="false" flipV="false" rot="0">
              <a:off x="0" y="0"/>
              <a:ext cx="9471184" cy="1393495"/>
            </a:xfrm>
            <a:custGeom>
              <a:avLst/>
              <a:gdLst/>
              <a:ahLst/>
              <a:cxnLst/>
              <a:rect r="r" b="b" t="t" l="l"/>
              <a:pathLst>
                <a:path h="1393495" w="9471184">
                  <a:moveTo>
                    <a:pt x="0" y="0"/>
                  </a:moveTo>
                  <a:lnTo>
                    <a:pt x="9471184" y="0"/>
                  </a:lnTo>
                  <a:lnTo>
                    <a:pt x="9471184" y="1393495"/>
                  </a:lnTo>
                  <a:lnTo>
                    <a:pt x="0" y="1393495"/>
                  </a:lnTo>
                  <a:close/>
                </a:path>
              </a:pathLst>
            </a:custGeom>
            <a:solidFill>
              <a:srgbClr val="000000">
                <a:alpha val="0"/>
              </a:srgbClr>
            </a:solidFill>
          </p:spPr>
        </p:sp>
        <p:sp>
          <p:nvSpPr>
            <p:cNvPr name="TextBox 10" id="10"/>
            <p:cNvSpPr txBox="true"/>
            <p:nvPr/>
          </p:nvSpPr>
          <p:spPr>
            <a:xfrm>
              <a:off x="0" y="47625"/>
              <a:ext cx="9471184" cy="1345870"/>
            </a:xfrm>
            <a:prstGeom prst="rect">
              <a:avLst/>
            </a:prstGeom>
          </p:spPr>
          <p:txBody>
            <a:bodyPr anchor="t" rtlCol="false" tIns="0" lIns="0" bIns="0" rIns="0"/>
            <a:lstStyle/>
            <a:p>
              <a:pPr algn="just">
                <a:lnSpc>
                  <a:spcPts val="8140"/>
                </a:lnSpc>
              </a:pPr>
              <a:r>
                <a:rPr lang="en-US" sz="7204" b="true">
                  <a:solidFill>
                    <a:srgbClr val="FFFFFF"/>
                  </a:solidFill>
                  <a:latin typeface="Glacial Indifference Bold"/>
                  <a:ea typeface="Glacial Indifference Bold"/>
                  <a:cs typeface="Glacial Indifference Bold"/>
                  <a:sym typeface="Glacial Indifference Bold"/>
                </a:rPr>
                <a:t>DATA SET</a:t>
              </a:r>
            </a:p>
          </p:txBody>
        </p:sp>
      </p:grpSp>
      <p:grpSp>
        <p:nvGrpSpPr>
          <p:cNvPr name="Group 11" id="11"/>
          <p:cNvGrpSpPr/>
          <p:nvPr/>
        </p:nvGrpSpPr>
        <p:grpSpPr>
          <a:xfrm rot="0">
            <a:off x="5821211" y="3108432"/>
            <a:ext cx="11895015" cy="5244775"/>
            <a:chOff x="0" y="0"/>
            <a:chExt cx="15860020" cy="6993033"/>
          </a:xfrm>
        </p:grpSpPr>
        <p:sp>
          <p:nvSpPr>
            <p:cNvPr name="Freeform 12" id="12"/>
            <p:cNvSpPr/>
            <p:nvPr/>
          </p:nvSpPr>
          <p:spPr>
            <a:xfrm flipH="false" flipV="false" rot="0">
              <a:off x="0" y="0"/>
              <a:ext cx="15860020" cy="6993034"/>
            </a:xfrm>
            <a:custGeom>
              <a:avLst/>
              <a:gdLst/>
              <a:ahLst/>
              <a:cxnLst/>
              <a:rect r="r" b="b" t="t" l="l"/>
              <a:pathLst>
                <a:path h="6993034" w="15860020">
                  <a:moveTo>
                    <a:pt x="0" y="0"/>
                  </a:moveTo>
                  <a:lnTo>
                    <a:pt x="15860020" y="0"/>
                  </a:lnTo>
                  <a:lnTo>
                    <a:pt x="15860020" y="6993034"/>
                  </a:lnTo>
                  <a:lnTo>
                    <a:pt x="0" y="6993034"/>
                  </a:lnTo>
                  <a:close/>
                </a:path>
              </a:pathLst>
            </a:custGeom>
            <a:solidFill>
              <a:srgbClr val="000000">
                <a:alpha val="0"/>
              </a:srgbClr>
            </a:solidFill>
          </p:spPr>
        </p:sp>
        <p:sp>
          <p:nvSpPr>
            <p:cNvPr name="TextBox 13" id="13"/>
            <p:cNvSpPr txBox="true"/>
            <p:nvPr/>
          </p:nvSpPr>
          <p:spPr>
            <a:xfrm>
              <a:off x="0" y="-171450"/>
              <a:ext cx="15860020" cy="7164483"/>
            </a:xfrm>
            <a:prstGeom prst="rect">
              <a:avLst/>
            </a:prstGeom>
          </p:spPr>
          <p:txBody>
            <a:bodyPr anchor="t" rtlCol="false" tIns="0" lIns="0" bIns="0" rIns="0"/>
            <a:lstStyle/>
            <a:p>
              <a:pPr algn="just">
                <a:lnSpc>
                  <a:spcPts val="5209"/>
                </a:lnSpc>
              </a:pPr>
              <a:r>
                <a:rPr lang="en-US" sz="2894">
                  <a:solidFill>
                    <a:srgbClr val="FFFFFF"/>
                  </a:solidFill>
                  <a:latin typeface="HK Grotesk"/>
                  <a:ea typeface="HK Grotesk"/>
                  <a:cs typeface="HK Grotesk"/>
                  <a:sym typeface="HK Grotesk"/>
                </a:rPr>
                <a:t>T</a:t>
              </a:r>
              <a:r>
                <a:rPr lang="en-US" sz="2894">
                  <a:solidFill>
                    <a:srgbClr val="FFFFFF"/>
                  </a:solidFill>
                  <a:latin typeface="HK Grotesk"/>
                  <a:ea typeface="HK Grotesk"/>
                  <a:cs typeface="HK Grotesk"/>
                  <a:sym typeface="HK Grotesk"/>
                </a:rPr>
                <a:t>he dataset is based on FER-2013 from Kaggle, containing 35,887 grayscale images (48×48 pixels) labeled with seven emotions. A custom “Sleep” class was added to introduce sleep detection. After preprocessing and augmentation, the final dataset was split into training (80%, 33,467 images), validation (10%, 4,180 images), and testing (10%, 4,192 images), maintaining class balance for improved recognition of both emotions and the newly added sleep category.</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tru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blipFill>
              <a:blip r:embed="rId2"/>
              <a:stretch>
                <a:fillRect l="0" t="0" r="0" b="0"/>
              </a:stretch>
            </a:blipFill>
          </p:spPr>
        </p:sp>
      </p:grpSp>
      <p:grpSp>
        <p:nvGrpSpPr>
          <p:cNvPr name="Group 4" id="4"/>
          <p:cNvGrpSpPr/>
          <p:nvPr/>
        </p:nvGrpSpPr>
        <p:grpSpPr>
          <a:xfrm rot="5400000">
            <a:off x="-2423338" y="-3119328"/>
            <a:ext cx="10287000" cy="18288000"/>
            <a:chOff x="0" y="0"/>
            <a:chExt cx="13716000" cy="24384000"/>
          </a:xfrm>
        </p:grpSpPr>
        <p:sp>
          <p:nvSpPr>
            <p:cNvPr name="Freeform 5" id="5"/>
            <p:cNvSpPr/>
            <p:nvPr/>
          </p:nvSpPr>
          <p:spPr>
            <a:xfrm flipH="false" flipV="false" rot="0">
              <a:off x="0" y="0"/>
              <a:ext cx="13716000" cy="24384000"/>
            </a:xfrm>
            <a:custGeom>
              <a:avLst/>
              <a:gdLst/>
              <a:ahLst/>
              <a:cxnLst/>
              <a:rect r="r" b="b" t="t" l="l"/>
              <a:pathLst>
                <a:path h="24384000" w="13716000">
                  <a:moveTo>
                    <a:pt x="0" y="0"/>
                  </a:moveTo>
                  <a:lnTo>
                    <a:pt x="13716000" y="0"/>
                  </a:lnTo>
                  <a:lnTo>
                    <a:pt x="13716000" y="24384000"/>
                  </a:lnTo>
                  <a:lnTo>
                    <a:pt x="0" y="24384000"/>
                  </a:lnTo>
                  <a:lnTo>
                    <a:pt x="0" y="0"/>
                  </a:lnTo>
                  <a:close/>
                </a:path>
              </a:pathLst>
            </a:custGeom>
            <a:blipFill>
              <a:blip r:embed="rId3"/>
              <a:stretch>
                <a:fillRect l="-13092" t="0" r="-13092" b="0"/>
              </a:stretch>
            </a:blipFill>
          </p:spPr>
        </p:sp>
      </p:grpSp>
      <p:grpSp>
        <p:nvGrpSpPr>
          <p:cNvPr name="Group 6" id="6"/>
          <p:cNvGrpSpPr/>
          <p:nvPr/>
        </p:nvGrpSpPr>
        <p:grpSpPr>
          <a:xfrm rot="0">
            <a:off x="1194620" y="406042"/>
            <a:ext cx="7949380" cy="950260"/>
            <a:chOff x="0" y="0"/>
            <a:chExt cx="10599173" cy="1267013"/>
          </a:xfrm>
        </p:grpSpPr>
        <p:sp>
          <p:nvSpPr>
            <p:cNvPr name="Freeform 7" id="7"/>
            <p:cNvSpPr/>
            <p:nvPr/>
          </p:nvSpPr>
          <p:spPr>
            <a:xfrm flipH="false" flipV="false" rot="0">
              <a:off x="0" y="0"/>
              <a:ext cx="10599173" cy="1267013"/>
            </a:xfrm>
            <a:custGeom>
              <a:avLst/>
              <a:gdLst/>
              <a:ahLst/>
              <a:cxnLst/>
              <a:rect r="r" b="b" t="t" l="l"/>
              <a:pathLst>
                <a:path h="1267013" w="10599173">
                  <a:moveTo>
                    <a:pt x="0" y="0"/>
                  </a:moveTo>
                  <a:lnTo>
                    <a:pt x="10599173" y="0"/>
                  </a:lnTo>
                  <a:lnTo>
                    <a:pt x="10599173" y="1267013"/>
                  </a:lnTo>
                  <a:lnTo>
                    <a:pt x="0" y="1267013"/>
                  </a:lnTo>
                  <a:close/>
                </a:path>
              </a:pathLst>
            </a:custGeom>
            <a:solidFill>
              <a:srgbClr val="000000">
                <a:alpha val="0"/>
              </a:srgbClr>
            </a:solidFill>
          </p:spPr>
        </p:sp>
        <p:sp>
          <p:nvSpPr>
            <p:cNvPr name="TextBox 8" id="8"/>
            <p:cNvSpPr txBox="true"/>
            <p:nvPr/>
          </p:nvSpPr>
          <p:spPr>
            <a:xfrm>
              <a:off x="0" y="38100"/>
              <a:ext cx="10599173" cy="1228913"/>
            </a:xfrm>
            <a:prstGeom prst="rect">
              <a:avLst/>
            </a:prstGeom>
          </p:spPr>
          <p:txBody>
            <a:bodyPr anchor="t" rtlCol="false" tIns="0" lIns="0" bIns="0" rIns="0"/>
            <a:lstStyle/>
            <a:p>
              <a:pPr algn="l">
                <a:lnSpc>
                  <a:spcPts val="7339"/>
                </a:lnSpc>
              </a:pPr>
              <a:r>
                <a:rPr lang="en-US" sz="6494" b="true">
                  <a:solidFill>
                    <a:srgbClr val="FFFFFF"/>
                  </a:solidFill>
                  <a:latin typeface="Glacial Indifference Bold"/>
                  <a:ea typeface="Glacial Indifference Bold"/>
                  <a:cs typeface="Glacial Indifference Bold"/>
                  <a:sym typeface="Glacial Indifference Bold"/>
                </a:rPr>
                <a:t> METHODOLOGY</a:t>
              </a:r>
            </a:p>
          </p:txBody>
        </p:sp>
      </p:grpSp>
      <p:grpSp>
        <p:nvGrpSpPr>
          <p:cNvPr name="Group 9" id="9"/>
          <p:cNvGrpSpPr/>
          <p:nvPr/>
        </p:nvGrpSpPr>
        <p:grpSpPr>
          <a:xfrm rot="0">
            <a:off x="1365954" y="1811697"/>
            <a:ext cx="13218070" cy="9072046"/>
            <a:chOff x="0" y="0"/>
            <a:chExt cx="17407776" cy="11947595"/>
          </a:xfrm>
        </p:grpSpPr>
        <p:sp>
          <p:nvSpPr>
            <p:cNvPr name="Freeform 10" id="10"/>
            <p:cNvSpPr/>
            <p:nvPr/>
          </p:nvSpPr>
          <p:spPr>
            <a:xfrm flipH="false" flipV="false" rot="0">
              <a:off x="0" y="0"/>
              <a:ext cx="17407775" cy="11947596"/>
            </a:xfrm>
            <a:custGeom>
              <a:avLst/>
              <a:gdLst/>
              <a:ahLst/>
              <a:cxnLst/>
              <a:rect r="r" b="b" t="t" l="l"/>
              <a:pathLst>
                <a:path h="11947596" w="17407775">
                  <a:moveTo>
                    <a:pt x="0" y="0"/>
                  </a:moveTo>
                  <a:lnTo>
                    <a:pt x="17407775" y="0"/>
                  </a:lnTo>
                  <a:lnTo>
                    <a:pt x="17407775" y="11947596"/>
                  </a:lnTo>
                  <a:lnTo>
                    <a:pt x="0" y="11947596"/>
                  </a:lnTo>
                  <a:close/>
                </a:path>
              </a:pathLst>
            </a:custGeom>
            <a:solidFill>
              <a:srgbClr val="000000">
                <a:alpha val="0"/>
              </a:srgbClr>
            </a:solidFill>
          </p:spPr>
        </p:sp>
        <p:sp>
          <p:nvSpPr>
            <p:cNvPr name="TextBox 11" id="11"/>
            <p:cNvSpPr txBox="true"/>
            <p:nvPr/>
          </p:nvSpPr>
          <p:spPr>
            <a:xfrm>
              <a:off x="0" y="-66675"/>
              <a:ext cx="17407776" cy="12014270"/>
            </a:xfrm>
            <a:prstGeom prst="rect">
              <a:avLst/>
            </a:prstGeom>
          </p:spPr>
          <p:txBody>
            <a:bodyPr anchor="t" rtlCol="false" tIns="0" lIns="0" bIns="0" rIns="0"/>
            <a:lstStyle/>
            <a:p>
              <a:pPr algn="just">
                <a:lnSpc>
                  <a:spcPts val="4479"/>
                </a:lnSpc>
              </a:pPr>
              <a:r>
                <a:rPr lang="en-US" sz="3199" b="true">
                  <a:solidFill>
                    <a:srgbClr val="FFFFFF"/>
                  </a:solidFill>
                  <a:latin typeface="HK Grotesk Bold"/>
                  <a:ea typeface="HK Grotesk Bold"/>
                  <a:cs typeface="HK Grotesk Bold"/>
                  <a:sym typeface="HK Grotesk Bold"/>
                </a:rPr>
                <a:t>Dataset Preparation</a:t>
              </a:r>
            </a:p>
            <a:p>
              <a:pPr algn="just" marL="690879" indent="-345439" lvl="1">
                <a:lnSpc>
                  <a:spcPts val="4479"/>
                </a:lnSpc>
                <a:buFont typeface="Arial"/>
                <a:buChar char="•"/>
              </a:pPr>
              <a:r>
                <a:rPr lang="en-US" sz="3199">
                  <a:solidFill>
                    <a:srgbClr val="FFFFFF"/>
                  </a:solidFill>
                  <a:latin typeface="HK Grotesk"/>
                  <a:ea typeface="HK Grotesk"/>
                  <a:cs typeface="HK Grotesk"/>
                  <a:sym typeface="HK Grotesk"/>
                </a:rPr>
                <a:t>Used FER-2013 dataset as the base (48x48 grayscale images).</a:t>
              </a:r>
            </a:p>
            <a:p>
              <a:pPr algn="just" marL="690879" indent="-345439" lvl="1">
                <a:lnSpc>
                  <a:spcPts val="4479"/>
                </a:lnSpc>
                <a:buFont typeface="Arial"/>
                <a:buChar char="•"/>
              </a:pPr>
              <a:r>
                <a:rPr lang="en-US" sz="3199">
                  <a:solidFill>
                    <a:srgbClr val="FFFFFF"/>
                  </a:solidFill>
                  <a:latin typeface="HK Grotesk"/>
                  <a:ea typeface="HK Grotesk"/>
                  <a:cs typeface="HK Grotesk"/>
                  <a:sym typeface="HK Grotesk"/>
                </a:rPr>
                <a:t>Added a new class called “Sleep” with 4,388 images collected manually.</a:t>
              </a:r>
            </a:p>
            <a:p>
              <a:pPr algn="just" marL="690879" indent="-345439" lvl="1">
                <a:lnSpc>
                  <a:spcPts val="4479"/>
                </a:lnSpc>
                <a:buFont typeface="Arial"/>
                <a:buChar char="•"/>
              </a:pPr>
              <a:r>
                <a:rPr lang="en-US" sz="3199">
                  <a:solidFill>
                    <a:srgbClr val="FFFFFF"/>
                  </a:solidFill>
                  <a:latin typeface="HK Grotesk"/>
                  <a:ea typeface="HK Grotesk"/>
                  <a:cs typeface="HK Grotesk"/>
                  <a:sym typeface="HK Grotesk"/>
                </a:rPr>
                <a:t>Augmented Disgust class due to low image count.</a:t>
              </a:r>
            </a:p>
            <a:p>
              <a:pPr algn="just" marL="690879" indent="-345439" lvl="1">
                <a:lnSpc>
                  <a:spcPts val="4479"/>
                </a:lnSpc>
                <a:buFont typeface="Arial"/>
                <a:buChar char="•"/>
              </a:pPr>
              <a:r>
                <a:rPr lang="en-US" sz="3199">
                  <a:solidFill>
                    <a:srgbClr val="FFFFFF"/>
                  </a:solidFill>
                  <a:latin typeface="HK Grotesk"/>
                  <a:ea typeface="HK Grotesk"/>
                  <a:cs typeface="HK Grotesk"/>
                  <a:sym typeface="HK Grotesk"/>
                </a:rPr>
                <a:t>Applied preprocessing: grayscale normalization, histogram equalization, resizing.</a:t>
              </a:r>
            </a:p>
            <a:p>
              <a:pPr algn="just">
                <a:lnSpc>
                  <a:spcPts val="4479"/>
                </a:lnSpc>
              </a:pPr>
              <a:r>
                <a:rPr lang="en-US" sz="3199" b="true">
                  <a:solidFill>
                    <a:srgbClr val="FFFFFF"/>
                  </a:solidFill>
                  <a:latin typeface="HK Grotesk Bold"/>
                  <a:ea typeface="HK Grotesk Bold"/>
                  <a:cs typeface="HK Grotesk Bold"/>
                  <a:sym typeface="HK Grotesk Bold"/>
                </a:rPr>
                <a:t>Data Augmentation</a:t>
              </a:r>
            </a:p>
            <a:p>
              <a:pPr algn="just" marL="690879" indent="-345439" lvl="1">
                <a:lnSpc>
                  <a:spcPts val="4479"/>
                </a:lnSpc>
                <a:buFont typeface="Arial"/>
                <a:buChar char="•"/>
              </a:pPr>
              <a:r>
                <a:rPr lang="en-US" sz="3199">
                  <a:solidFill>
                    <a:srgbClr val="FFFFFF"/>
                  </a:solidFill>
                  <a:latin typeface="HK Grotesk"/>
                  <a:ea typeface="HK Grotesk"/>
                  <a:cs typeface="HK Grotesk"/>
                  <a:sym typeface="HK Grotesk"/>
                </a:rPr>
                <a:t>Performed data augmentation to improve model accuracy:</a:t>
              </a:r>
            </a:p>
            <a:p>
              <a:pPr algn="just" marL="1381758" indent="-460586" lvl="2">
                <a:lnSpc>
                  <a:spcPts val="4479"/>
                </a:lnSpc>
                <a:buFont typeface="Arial"/>
                <a:buChar char="⚬"/>
              </a:pPr>
              <a:r>
                <a:rPr lang="en-US" sz="3199">
                  <a:solidFill>
                    <a:srgbClr val="FFFFFF"/>
                  </a:solidFill>
                  <a:latin typeface="HK Grotesk"/>
                  <a:ea typeface="HK Grotesk"/>
                  <a:cs typeface="HK Grotesk"/>
                  <a:sym typeface="HK Grotesk"/>
                </a:rPr>
                <a:t>Rotation (±15°)</a:t>
              </a:r>
            </a:p>
            <a:p>
              <a:pPr algn="just" marL="1381758" indent="-460586" lvl="2">
                <a:lnSpc>
                  <a:spcPts val="4479"/>
                </a:lnSpc>
                <a:buFont typeface="Arial"/>
                <a:buChar char="⚬"/>
              </a:pPr>
              <a:r>
                <a:rPr lang="en-US" sz="3199">
                  <a:solidFill>
                    <a:srgbClr val="FFFFFF"/>
                  </a:solidFill>
                  <a:latin typeface="HK Grotesk"/>
                  <a:ea typeface="HK Grotesk"/>
                  <a:cs typeface="HK Grotesk"/>
                  <a:sym typeface="HK Grotesk"/>
                </a:rPr>
                <a:t>Brightness adjustment (±20%)</a:t>
              </a:r>
            </a:p>
            <a:p>
              <a:pPr algn="just" marL="1381758" indent="-460586" lvl="2">
                <a:lnSpc>
                  <a:spcPts val="4479"/>
                </a:lnSpc>
                <a:buFont typeface="Arial"/>
                <a:buChar char="⚬"/>
              </a:pPr>
              <a:r>
                <a:rPr lang="en-US" sz="3199">
                  <a:solidFill>
                    <a:srgbClr val="FFFFFF"/>
                  </a:solidFill>
                  <a:latin typeface="HK Grotesk"/>
                  <a:ea typeface="HK Grotesk"/>
                  <a:cs typeface="HK Grotesk"/>
                  <a:sym typeface="HK Grotesk"/>
                </a:rPr>
                <a:t>Horizontal flips &amp; cropping</a:t>
              </a:r>
            </a:p>
            <a:p>
              <a:pPr algn="just" marL="690879" indent="-345439" lvl="1">
                <a:lnSpc>
                  <a:spcPts val="4479"/>
                </a:lnSpc>
                <a:buFont typeface="Arial"/>
                <a:buChar char="•"/>
              </a:pPr>
              <a:r>
                <a:rPr lang="en-US" sz="3199">
                  <a:solidFill>
                    <a:srgbClr val="FFFFFF"/>
                  </a:solidFill>
                  <a:latin typeface="HK Grotesk"/>
                  <a:ea typeface="HK Grotesk"/>
                  <a:cs typeface="HK Grotesk"/>
                  <a:sym typeface="HK Grotesk"/>
                </a:rPr>
                <a:t>Goal: balance all classes and reduce overfitting.</a:t>
              </a:r>
            </a:p>
            <a:p>
              <a:pPr algn="just" marL="690879" indent="-345439" lvl="1">
                <a:lnSpc>
                  <a:spcPts val="4479"/>
                </a:lnSpc>
                <a:buFont typeface="Arial"/>
                <a:buChar char="•"/>
              </a:pPr>
              <a:r>
                <a:rPr lang="en-US" sz="3199">
                  <a:solidFill>
                    <a:srgbClr val="FFFFFF"/>
                  </a:solidFill>
                  <a:latin typeface="HK Grotesk"/>
                  <a:ea typeface="HK Grotesk"/>
                  <a:cs typeface="HK Grotesk"/>
                  <a:sym typeface="HK Grotesk"/>
                </a:rPr>
                <a:t>Ensured all images were consistent in size and format.</a:t>
              </a:r>
            </a:p>
            <a:p>
              <a:pPr algn="just">
                <a:lnSpc>
                  <a:spcPts val="4480"/>
                </a:lnSpc>
              </a:pPr>
            </a:p>
            <a:p>
              <a:pPr algn="just">
                <a:lnSpc>
                  <a:spcPts val="447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tru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blipFill>
              <a:blip r:embed="rId2"/>
              <a:stretch>
                <a:fillRect l="0" t="0" r="0" b="0"/>
              </a:stretch>
            </a:blipFill>
          </p:spPr>
        </p:sp>
      </p:grpSp>
      <p:grpSp>
        <p:nvGrpSpPr>
          <p:cNvPr name="Group 4" id="4"/>
          <p:cNvGrpSpPr/>
          <p:nvPr/>
        </p:nvGrpSpPr>
        <p:grpSpPr>
          <a:xfrm rot="5400000">
            <a:off x="4076700" y="-3968087"/>
            <a:ext cx="10287000" cy="18288000"/>
            <a:chOff x="0" y="0"/>
            <a:chExt cx="13716000" cy="24384000"/>
          </a:xfrm>
        </p:grpSpPr>
        <p:sp>
          <p:nvSpPr>
            <p:cNvPr name="Freeform 5" id="5"/>
            <p:cNvSpPr/>
            <p:nvPr/>
          </p:nvSpPr>
          <p:spPr>
            <a:xfrm flipH="false" flipV="false" rot="0">
              <a:off x="0" y="0"/>
              <a:ext cx="13716000" cy="24384000"/>
            </a:xfrm>
            <a:custGeom>
              <a:avLst/>
              <a:gdLst/>
              <a:ahLst/>
              <a:cxnLst/>
              <a:rect r="r" b="b" t="t" l="l"/>
              <a:pathLst>
                <a:path h="24384000" w="13716000">
                  <a:moveTo>
                    <a:pt x="0" y="0"/>
                  </a:moveTo>
                  <a:lnTo>
                    <a:pt x="13716000" y="0"/>
                  </a:lnTo>
                  <a:lnTo>
                    <a:pt x="13716000" y="24384000"/>
                  </a:lnTo>
                  <a:lnTo>
                    <a:pt x="0" y="24384000"/>
                  </a:lnTo>
                  <a:lnTo>
                    <a:pt x="0" y="0"/>
                  </a:lnTo>
                  <a:close/>
                </a:path>
              </a:pathLst>
            </a:custGeom>
            <a:blipFill>
              <a:blip r:embed="rId3"/>
              <a:stretch>
                <a:fillRect l="-13092" t="0" r="-13092" b="0"/>
              </a:stretch>
            </a:blipFill>
          </p:spPr>
        </p:sp>
      </p:grpSp>
      <p:grpSp>
        <p:nvGrpSpPr>
          <p:cNvPr name="Group 6" id="6"/>
          <p:cNvGrpSpPr/>
          <p:nvPr/>
        </p:nvGrpSpPr>
        <p:grpSpPr>
          <a:xfrm rot="0">
            <a:off x="1194620" y="406042"/>
            <a:ext cx="7949380" cy="950260"/>
            <a:chOff x="0" y="0"/>
            <a:chExt cx="10599173" cy="1267013"/>
          </a:xfrm>
        </p:grpSpPr>
        <p:sp>
          <p:nvSpPr>
            <p:cNvPr name="Freeform 7" id="7"/>
            <p:cNvSpPr/>
            <p:nvPr/>
          </p:nvSpPr>
          <p:spPr>
            <a:xfrm flipH="false" flipV="false" rot="0">
              <a:off x="0" y="0"/>
              <a:ext cx="10599173" cy="1267013"/>
            </a:xfrm>
            <a:custGeom>
              <a:avLst/>
              <a:gdLst/>
              <a:ahLst/>
              <a:cxnLst/>
              <a:rect r="r" b="b" t="t" l="l"/>
              <a:pathLst>
                <a:path h="1267013" w="10599173">
                  <a:moveTo>
                    <a:pt x="0" y="0"/>
                  </a:moveTo>
                  <a:lnTo>
                    <a:pt x="10599173" y="0"/>
                  </a:lnTo>
                  <a:lnTo>
                    <a:pt x="10599173" y="1267013"/>
                  </a:lnTo>
                  <a:lnTo>
                    <a:pt x="0" y="1267013"/>
                  </a:lnTo>
                  <a:close/>
                </a:path>
              </a:pathLst>
            </a:custGeom>
            <a:solidFill>
              <a:srgbClr val="000000">
                <a:alpha val="0"/>
              </a:srgbClr>
            </a:solidFill>
          </p:spPr>
        </p:sp>
        <p:sp>
          <p:nvSpPr>
            <p:cNvPr name="TextBox 8" id="8"/>
            <p:cNvSpPr txBox="true"/>
            <p:nvPr/>
          </p:nvSpPr>
          <p:spPr>
            <a:xfrm>
              <a:off x="0" y="38100"/>
              <a:ext cx="10599173" cy="1228913"/>
            </a:xfrm>
            <a:prstGeom prst="rect">
              <a:avLst/>
            </a:prstGeom>
          </p:spPr>
          <p:txBody>
            <a:bodyPr anchor="t" rtlCol="false" tIns="0" lIns="0" bIns="0" rIns="0"/>
            <a:lstStyle/>
            <a:p>
              <a:pPr algn="l">
                <a:lnSpc>
                  <a:spcPts val="7339"/>
                </a:lnSpc>
              </a:pPr>
              <a:r>
                <a:rPr lang="en-US" sz="6494" b="true">
                  <a:solidFill>
                    <a:srgbClr val="FFFFFF"/>
                  </a:solidFill>
                  <a:latin typeface="Glacial Indifference Bold"/>
                  <a:ea typeface="Glacial Indifference Bold"/>
                  <a:cs typeface="Glacial Indifference Bold"/>
                  <a:sym typeface="Glacial Indifference Bold"/>
                </a:rPr>
                <a:t> METHODOLOGY</a:t>
              </a:r>
            </a:p>
          </p:txBody>
        </p:sp>
      </p:grpSp>
      <p:grpSp>
        <p:nvGrpSpPr>
          <p:cNvPr name="Group 9" id="9"/>
          <p:cNvGrpSpPr/>
          <p:nvPr/>
        </p:nvGrpSpPr>
        <p:grpSpPr>
          <a:xfrm rot="0">
            <a:off x="1325291" y="1809203"/>
            <a:ext cx="13321236" cy="9633980"/>
            <a:chOff x="0" y="0"/>
            <a:chExt cx="17761648" cy="12845307"/>
          </a:xfrm>
        </p:grpSpPr>
        <p:sp>
          <p:nvSpPr>
            <p:cNvPr name="Freeform 10" id="10"/>
            <p:cNvSpPr/>
            <p:nvPr/>
          </p:nvSpPr>
          <p:spPr>
            <a:xfrm flipH="false" flipV="false" rot="0">
              <a:off x="0" y="0"/>
              <a:ext cx="17761648" cy="12845307"/>
            </a:xfrm>
            <a:custGeom>
              <a:avLst/>
              <a:gdLst/>
              <a:ahLst/>
              <a:cxnLst/>
              <a:rect r="r" b="b" t="t" l="l"/>
              <a:pathLst>
                <a:path h="12845307" w="17761648">
                  <a:moveTo>
                    <a:pt x="0" y="0"/>
                  </a:moveTo>
                  <a:lnTo>
                    <a:pt x="17761648" y="0"/>
                  </a:lnTo>
                  <a:lnTo>
                    <a:pt x="17761648" y="12845307"/>
                  </a:lnTo>
                  <a:lnTo>
                    <a:pt x="0" y="12845307"/>
                  </a:lnTo>
                  <a:close/>
                </a:path>
              </a:pathLst>
            </a:custGeom>
            <a:solidFill>
              <a:srgbClr val="000000">
                <a:alpha val="0"/>
              </a:srgbClr>
            </a:solidFill>
          </p:spPr>
        </p:sp>
        <p:sp>
          <p:nvSpPr>
            <p:cNvPr name="TextBox 11" id="11"/>
            <p:cNvSpPr txBox="true"/>
            <p:nvPr/>
          </p:nvSpPr>
          <p:spPr>
            <a:xfrm>
              <a:off x="0" y="-66675"/>
              <a:ext cx="17761648" cy="12911982"/>
            </a:xfrm>
            <a:prstGeom prst="rect">
              <a:avLst/>
            </a:prstGeom>
          </p:spPr>
          <p:txBody>
            <a:bodyPr anchor="t" rtlCol="false" tIns="0" lIns="0" bIns="0" rIns="0"/>
            <a:lstStyle/>
            <a:p>
              <a:pPr algn="just">
                <a:lnSpc>
                  <a:spcPts val="4480"/>
                </a:lnSpc>
              </a:pPr>
              <a:r>
                <a:rPr lang="en-US" sz="3200" b="true">
                  <a:solidFill>
                    <a:srgbClr val="FFFFFF"/>
                  </a:solidFill>
                  <a:latin typeface="HK Grotesk Bold"/>
                  <a:ea typeface="HK Grotesk Bold"/>
                  <a:cs typeface="HK Grotesk Bold"/>
                  <a:sym typeface="HK Grotesk Bold"/>
                </a:rPr>
                <a:t>Model Architecture</a:t>
              </a:r>
            </a:p>
            <a:p>
              <a:pPr algn="just" marL="690881" indent="-345440" lvl="1">
                <a:lnSpc>
                  <a:spcPts val="4480"/>
                </a:lnSpc>
                <a:buFont typeface="Arial"/>
                <a:buChar char="•"/>
              </a:pPr>
              <a:r>
                <a:rPr lang="en-US" sz="3200">
                  <a:solidFill>
                    <a:srgbClr val="FFFFFF"/>
                  </a:solidFill>
                  <a:latin typeface="HK Grotesk"/>
                  <a:ea typeface="HK Grotesk"/>
                  <a:cs typeface="HK Grotesk"/>
                  <a:sym typeface="HK Grotesk"/>
                </a:rPr>
                <a:t>Built a CNN (Convolutional Neural Network) using Keras.</a:t>
              </a:r>
            </a:p>
            <a:p>
              <a:pPr algn="just" marL="690881" indent="-345440" lvl="1">
                <a:lnSpc>
                  <a:spcPts val="4480"/>
                </a:lnSpc>
                <a:buFont typeface="Arial"/>
                <a:buChar char="•"/>
              </a:pPr>
              <a:r>
                <a:rPr lang="en-US" sz="3200">
                  <a:solidFill>
                    <a:srgbClr val="FFFFFF"/>
                  </a:solidFill>
                  <a:latin typeface="HK Grotesk"/>
                  <a:ea typeface="HK Grotesk"/>
                  <a:cs typeface="HK Grotesk"/>
                  <a:sym typeface="HK Grotesk"/>
                </a:rPr>
                <a:t>Layers:</a:t>
              </a:r>
            </a:p>
            <a:p>
              <a:pPr algn="just" marL="1381761" indent="-460587" lvl="2">
                <a:lnSpc>
                  <a:spcPts val="4480"/>
                </a:lnSpc>
                <a:buFont typeface="Arial"/>
                <a:buChar char="⚬"/>
              </a:pPr>
              <a:r>
                <a:rPr lang="en-US" sz="3200">
                  <a:solidFill>
                    <a:srgbClr val="FFFFFF"/>
                  </a:solidFill>
                  <a:latin typeface="HK Grotesk"/>
                  <a:ea typeface="HK Grotesk"/>
                  <a:cs typeface="HK Grotesk"/>
                  <a:sym typeface="HK Grotesk"/>
                </a:rPr>
                <a:t>Convolution + ReLU</a:t>
              </a:r>
            </a:p>
            <a:p>
              <a:pPr algn="just" marL="1381761" indent="-460587" lvl="2">
                <a:lnSpc>
                  <a:spcPts val="4480"/>
                </a:lnSpc>
                <a:buFont typeface="Arial"/>
                <a:buChar char="⚬"/>
              </a:pPr>
              <a:r>
                <a:rPr lang="en-US" sz="3200">
                  <a:solidFill>
                    <a:srgbClr val="FFFFFF"/>
                  </a:solidFill>
                  <a:latin typeface="HK Grotesk"/>
                  <a:ea typeface="HK Grotesk"/>
                  <a:cs typeface="HK Grotesk"/>
                  <a:sym typeface="HK Grotesk"/>
                </a:rPr>
                <a:t>Batch Normalization</a:t>
              </a:r>
            </a:p>
            <a:p>
              <a:pPr algn="just" marL="1381761" indent="-460587" lvl="2">
                <a:lnSpc>
                  <a:spcPts val="4480"/>
                </a:lnSpc>
                <a:buFont typeface="Arial"/>
                <a:buChar char="⚬"/>
              </a:pPr>
              <a:r>
                <a:rPr lang="en-US" sz="3200">
                  <a:solidFill>
                    <a:srgbClr val="FFFFFF"/>
                  </a:solidFill>
                  <a:latin typeface="HK Grotesk"/>
                  <a:ea typeface="HK Grotesk"/>
                  <a:cs typeface="HK Grotesk"/>
                  <a:sym typeface="HK Grotesk"/>
                </a:rPr>
                <a:t>Max Pooling</a:t>
              </a:r>
            </a:p>
            <a:p>
              <a:pPr algn="just" marL="1381761" indent="-460587" lvl="2">
                <a:lnSpc>
                  <a:spcPts val="4480"/>
                </a:lnSpc>
                <a:buFont typeface="Arial"/>
                <a:buChar char="⚬"/>
              </a:pPr>
              <a:r>
                <a:rPr lang="en-US" sz="3200">
                  <a:solidFill>
                    <a:srgbClr val="FFFFFF"/>
                  </a:solidFill>
                  <a:latin typeface="HK Grotesk"/>
                  <a:ea typeface="HK Grotesk"/>
                  <a:cs typeface="HK Grotesk"/>
                  <a:sym typeface="HK Grotesk"/>
                </a:rPr>
                <a:t>Dropout</a:t>
              </a:r>
            </a:p>
            <a:p>
              <a:pPr algn="just" marL="690881" indent="-345440" lvl="1">
                <a:lnSpc>
                  <a:spcPts val="4480"/>
                </a:lnSpc>
                <a:buFont typeface="Arial"/>
                <a:buChar char="•"/>
              </a:pPr>
              <a:r>
                <a:rPr lang="en-US" sz="3200">
                  <a:solidFill>
                    <a:srgbClr val="FFFFFF"/>
                  </a:solidFill>
                  <a:latin typeface="HK Grotesk"/>
                  <a:ea typeface="HK Grotesk"/>
                  <a:cs typeface="HK Grotesk"/>
                  <a:sym typeface="HK Grotesk"/>
                </a:rPr>
                <a:t>Final output layer: Softmax with 8 emotion classes.</a:t>
              </a:r>
            </a:p>
            <a:p>
              <a:pPr algn="just">
                <a:lnSpc>
                  <a:spcPts val="4480"/>
                </a:lnSpc>
              </a:pPr>
              <a:r>
                <a:rPr lang="en-US" sz="3200" b="true">
                  <a:solidFill>
                    <a:srgbClr val="FFFFFF"/>
                  </a:solidFill>
                  <a:latin typeface="HK Grotesk Bold"/>
                  <a:ea typeface="HK Grotesk Bold"/>
                  <a:cs typeface="HK Grotesk Bold"/>
                  <a:sym typeface="HK Grotesk Bold"/>
                </a:rPr>
                <a:t>Training Strategy</a:t>
              </a:r>
            </a:p>
            <a:p>
              <a:pPr algn="just" marL="690881" indent="-345440" lvl="1">
                <a:lnSpc>
                  <a:spcPts val="4480"/>
                </a:lnSpc>
                <a:buFont typeface="Arial"/>
                <a:buChar char="•"/>
              </a:pPr>
              <a:r>
                <a:rPr lang="en-US" sz="3200">
                  <a:solidFill>
                    <a:srgbClr val="FFFFFF"/>
                  </a:solidFill>
                  <a:latin typeface="HK Grotesk"/>
                  <a:ea typeface="HK Grotesk"/>
                  <a:cs typeface="HK Grotesk"/>
                  <a:sym typeface="HK Grotesk"/>
                </a:rPr>
                <a:t>Used Adam Optimizer for fast and stable learning.</a:t>
              </a:r>
            </a:p>
            <a:p>
              <a:pPr algn="just" marL="690881" indent="-345440" lvl="1">
                <a:lnSpc>
                  <a:spcPts val="4480"/>
                </a:lnSpc>
                <a:buFont typeface="Arial"/>
                <a:buChar char="•"/>
              </a:pPr>
              <a:r>
                <a:rPr lang="en-US" sz="3200">
                  <a:solidFill>
                    <a:srgbClr val="FFFFFF"/>
                  </a:solidFill>
                  <a:latin typeface="HK Grotesk"/>
                  <a:ea typeface="HK Grotesk"/>
                  <a:cs typeface="HK Grotesk"/>
                  <a:sym typeface="HK Grotesk"/>
                </a:rPr>
                <a:t>Training features:</a:t>
              </a:r>
            </a:p>
            <a:p>
              <a:pPr algn="just" marL="1381761" indent="-460587" lvl="2">
                <a:lnSpc>
                  <a:spcPts val="4480"/>
                </a:lnSpc>
                <a:buFont typeface="Arial"/>
                <a:buChar char="⚬"/>
              </a:pPr>
              <a:r>
                <a:rPr lang="en-US" sz="3200">
                  <a:solidFill>
                    <a:srgbClr val="FFFFFF"/>
                  </a:solidFill>
                  <a:latin typeface="HK Grotesk"/>
                  <a:ea typeface="HK Grotesk"/>
                  <a:cs typeface="HK Grotesk"/>
                  <a:sym typeface="HK Grotesk"/>
                </a:rPr>
                <a:t>60 epochs</a:t>
              </a:r>
            </a:p>
            <a:p>
              <a:pPr algn="just" marL="1381761" indent="-460587" lvl="2">
                <a:lnSpc>
                  <a:spcPts val="4480"/>
                </a:lnSpc>
                <a:buFont typeface="Arial"/>
                <a:buChar char="⚬"/>
              </a:pPr>
              <a:r>
                <a:rPr lang="en-US" sz="3200">
                  <a:solidFill>
                    <a:srgbClr val="FFFFFF"/>
                  </a:solidFill>
                  <a:latin typeface="HK Grotesk"/>
                  <a:ea typeface="HK Grotesk"/>
                  <a:cs typeface="HK Grotesk"/>
                  <a:sym typeface="HK Grotesk"/>
                </a:rPr>
                <a:t>EarlyStopping and ModelCheckpoint</a:t>
              </a:r>
            </a:p>
            <a:p>
              <a:pPr algn="just" marL="690881" indent="-345440" lvl="1">
                <a:lnSpc>
                  <a:spcPts val="4480"/>
                </a:lnSpc>
                <a:buFont typeface="Arial"/>
                <a:buChar char="•"/>
              </a:pPr>
              <a:r>
                <a:rPr lang="en-US" sz="3200">
                  <a:solidFill>
                    <a:srgbClr val="FFFFFF"/>
                  </a:solidFill>
                  <a:latin typeface="HK Grotesk"/>
                  <a:ea typeface="HK Grotesk"/>
                  <a:cs typeface="HK Grotesk"/>
                  <a:sym typeface="HK Grotesk"/>
                </a:rPr>
                <a:t>Split dataset: 80% Train, 10% Validation, 10% Test</a:t>
              </a:r>
            </a:p>
            <a:p>
              <a:pPr algn="just">
                <a:lnSpc>
                  <a:spcPts val="4480"/>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tru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blipFill>
              <a:blip r:embed="rId2"/>
              <a:stretch>
                <a:fillRect l="0" t="0" r="0" b="0"/>
              </a:stretch>
            </a:blipFill>
          </p:spPr>
        </p:sp>
      </p:grpSp>
      <p:grpSp>
        <p:nvGrpSpPr>
          <p:cNvPr name="Group 4" id="4"/>
          <p:cNvGrpSpPr/>
          <p:nvPr/>
        </p:nvGrpSpPr>
        <p:grpSpPr>
          <a:xfrm rot="0">
            <a:off x="212167" y="0"/>
            <a:ext cx="17301415" cy="10287000"/>
            <a:chOff x="0" y="0"/>
            <a:chExt cx="24079838" cy="14317285"/>
          </a:xfrm>
        </p:grpSpPr>
        <p:sp>
          <p:nvSpPr>
            <p:cNvPr name="Freeform 5" id="5"/>
            <p:cNvSpPr/>
            <p:nvPr/>
          </p:nvSpPr>
          <p:spPr>
            <a:xfrm flipH="false" flipV="false" rot="0">
              <a:off x="0" y="0"/>
              <a:ext cx="24079839" cy="14317345"/>
            </a:xfrm>
            <a:custGeom>
              <a:avLst/>
              <a:gdLst/>
              <a:ahLst/>
              <a:cxnLst/>
              <a:rect r="r" b="b" t="t" l="l"/>
              <a:pathLst>
                <a:path h="14317345" w="24079839">
                  <a:moveTo>
                    <a:pt x="0" y="0"/>
                  </a:moveTo>
                  <a:lnTo>
                    <a:pt x="24079839" y="0"/>
                  </a:lnTo>
                  <a:lnTo>
                    <a:pt x="24079839" y="14317345"/>
                  </a:lnTo>
                  <a:lnTo>
                    <a:pt x="0" y="14317345"/>
                  </a:lnTo>
                  <a:lnTo>
                    <a:pt x="0" y="0"/>
                  </a:lnTo>
                  <a:close/>
                </a:path>
              </a:pathLst>
            </a:custGeom>
            <a:blipFill>
              <a:blip r:embed="rId3"/>
              <a:stretch>
                <a:fillRect l="0" t="-68476" r="0" b="-68476"/>
              </a:stretch>
            </a:blipFill>
          </p:spPr>
        </p:sp>
      </p:grpSp>
      <p:grpSp>
        <p:nvGrpSpPr>
          <p:cNvPr name="Group 6" id="6"/>
          <p:cNvGrpSpPr/>
          <p:nvPr/>
        </p:nvGrpSpPr>
        <p:grpSpPr>
          <a:xfrm rot="0">
            <a:off x="1028700" y="2128575"/>
            <a:ext cx="14287450" cy="6472252"/>
            <a:chOff x="0" y="0"/>
            <a:chExt cx="17050463" cy="7723905"/>
          </a:xfrm>
        </p:grpSpPr>
        <p:sp>
          <p:nvSpPr>
            <p:cNvPr name="Freeform 7" id="7"/>
            <p:cNvSpPr/>
            <p:nvPr/>
          </p:nvSpPr>
          <p:spPr>
            <a:xfrm flipH="false" flipV="false" rot="0">
              <a:off x="0" y="0"/>
              <a:ext cx="17050463" cy="7723905"/>
            </a:xfrm>
            <a:custGeom>
              <a:avLst/>
              <a:gdLst/>
              <a:ahLst/>
              <a:cxnLst/>
              <a:rect r="r" b="b" t="t" l="l"/>
              <a:pathLst>
                <a:path h="7723905" w="17050463">
                  <a:moveTo>
                    <a:pt x="0" y="0"/>
                  </a:moveTo>
                  <a:lnTo>
                    <a:pt x="17050463" y="0"/>
                  </a:lnTo>
                  <a:lnTo>
                    <a:pt x="17050463" y="7723905"/>
                  </a:lnTo>
                  <a:lnTo>
                    <a:pt x="0" y="7723905"/>
                  </a:lnTo>
                  <a:close/>
                </a:path>
              </a:pathLst>
            </a:custGeom>
            <a:solidFill>
              <a:srgbClr val="000000">
                <a:alpha val="0"/>
              </a:srgbClr>
            </a:solidFill>
          </p:spPr>
        </p:sp>
        <p:sp>
          <p:nvSpPr>
            <p:cNvPr name="TextBox 8" id="8"/>
            <p:cNvSpPr txBox="true"/>
            <p:nvPr/>
          </p:nvSpPr>
          <p:spPr>
            <a:xfrm>
              <a:off x="0" y="-76200"/>
              <a:ext cx="17050463" cy="7800105"/>
            </a:xfrm>
            <a:prstGeom prst="rect">
              <a:avLst/>
            </a:prstGeom>
          </p:spPr>
          <p:txBody>
            <a:bodyPr anchor="t" rtlCol="false" tIns="0" lIns="0" bIns="0" rIns="0"/>
            <a:lstStyle/>
            <a:p>
              <a:pPr algn="just">
                <a:lnSpc>
                  <a:spcPts val="5040"/>
                </a:lnSpc>
              </a:pPr>
              <a:r>
                <a:rPr lang="en-US" sz="3600">
                  <a:solidFill>
                    <a:srgbClr val="FFFFFF"/>
                  </a:solidFill>
                  <a:latin typeface="HK Grotesk"/>
                  <a:ea typeface="HK Grotesk"/>
                  <a:cs typeface="HK Grotesk"/>
                  <a:sym typeface="HK Grotesk"/>
                </a:rPr>
                <a:t> Emotion Detection Pipeline</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Face detected using Haar Ca</a:t>
              </a:r>
              <a:r>
                <a:rPr lang="en-US" sz="3600">
                  <a:solidFill>
                    <a:srgbClr val="FFFFFF"/>
                  </a:solidFill>
                  <a:latin typeface="HK Grotesk"/>
                  <a:ea typeface="HK Grotesk"/>
                  <a:cs typeface="HK Grotesk"/>
                  <a:sym typeface="HK Grotesk"/>
                </a:rPr>
                <a:t>scade Classifier (OpenCV).</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Detected face is preprocessed and resized to 48x48.</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Image passed to CNN model for emotion classification.</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P</a:t>
              </a:r>
              <a:r>
                <a:rPr lang="en-US" sz="3600">
                  <a:solidFill>
                    <a:srgbClr val="FFFFFF"/>
                  </a:solidFill>
                  <a:latin typeface="HK Grotesk"/>
                  <a:ea typeface="HK Grotesk"/>
                  <a:cs typeface="HK Grotesk"/>
                  <a:sym typeface="HK Grotesk"/>
                </a:rPr>
                <a:t>rediction converted to label (e.g., Happy, Sleep).</a:t>
              </a:r>
            </a:p>
            <a:p>
              <a:pPr algn="just">
                <a:lnSpc>
                  <a:spcPts val="5040"/>
                </a:lnSpc>
              </a:pPr>
              <a:r>
                <a:rPr lang="en-US" sz="3600">
                  <a:solidFill>
                    <a:srgbClr val="FFFFFF"/>
                  </a:solidFill>
                  <a:latin typeface="HK Grotesk"/>
                  <a:ea typeface="HK Grotesk"/>
                  <a:cs typeface="HK Grotesk"/>
                  <a:sym typeface="HK Grotesk"/>
                </a:rPr>
                <a:t> Real-Time Video &amp; Audio Feedback</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Live webcam used for real-time emotion detection.</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If emotion changes → speak it out loud using gTTS.</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Audio played using Pygame.</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Threading used for smooth speech without freezing video.</a:t>
              </a:r>
            </a:p>
          </p:txBody>
        </p:sp>
      </p:grpSp>
      <p:grpSp>
        <p:nvGrpSpPr>
          <p:cNvPr name="Group 9" id="9"/>
          <p:cNvGrpSpPr/>
          <p:nvPr/>
        </p:nvGrpSpPr>
        <p:grpSpPr>
          <a:xfrm rot="0">
            <a:off x="1261295" y="640193"/>
            <a:ext cx="8245072" cy="1161404"/>
            <a:chOff x="0" y="0"/>
            <a:chExt cx="10993430" cy="1548538"/>
          </a:xfrm>
        </p:grpSpPr>
        <p:sp>
          <p:nvSpPr>
            <p:cNvPr name="Freeform 10" id="10"/>
            <p:cNvSpPr/>
            <p:nvPr/>
          </p:nvSpPr>
          <p:spPr>
            <a:xfrm flipH="false" flipV="false" rot="0">
              <a:off x="0" y="0"/>
              <a:ext cx="10993429" cy="1548538"/>
            </a:xfrm>
            <a:custGeom>
              <a:avLst/>
              <a:gdLst/>
              <a:ahLst/>
              <a:cxnLst/>
              <a:rect r="r" b="b" t="t" l="l"/>
              <a:pathLst>
                <a:path h="1548538" w="10993429">
                  <a:moveTo>
                    <a:pt x="0" y="0"/>
                  </a:moveTo>
                  <a:lnTo>
                    <a:pt x="10993429" y="0"/>
                  </a:lnTo>
                  <a:lnTo>
                    <a:pt x="10993429" y="1548538"/>
                  </a:lnTo>
                  <a:lnTo>
                    <a:pt x="0" y="1548538"/>
                  </a:lnTo>
                  <a:close/>
                </a:path>
              </a:pathLst>
            </a:custGeom>
            <a:solidFill>
              <a:srgbClr val="000000">
                <a:alpha val="0"/>
              </a:srgbClr>
            </a:solidFill>
          </p:spPr>
        </p:sp>
        <p:sp>
          <p:nvSpPr>
            <p:cNvPr name="TextBox 11" id="11"/>
            <p:cNvSpPr txBox="true"/>
            <p:nvPr/>
          </p:nvSpPr>
          <p:spPr>
            <a:xfrm>
              <a:off x="0" y="38100"/>
              <a:ext cx="10993430" cy="1510438"/>
            </a:xfrm>
            <a:prstGeom prst="rect">
              <a:avLst/>
            </a:prstGeom>
          </p:spPr>
          <p:txBody>
            <a:bodyPr anchor="t" rtlCol="false" tIns="0" lIns="0" bIns="0" rIns="0"/>
            <a:lstStyle/>
            <a:p>
              <a:pPr algn="l">
                <a:lnSpc>
                  <a:spcPts val="7339"/>
                </a:lnSpc>
              </a:pPr>
              <a:r>
                <a:rPr lang="en-US" sz="6494" b="true">
                  <a:solidFill>
                    <a:srgbClr val="FFFFFF"/>
                  </a:solidFill>
                  <a:latin typeface="Glacial Indifference Bold"/>
                  <a:ea typeface="Glacial Indifference Bold"/>
                  <a:cs typeface="Glacial Indifference Bold"/>
                  <a:sym typeface="Glacial Indifference Bold"/>
                </a:rPr>
                <a:t>IMPLEMENTATION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tru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blipFill>
              <a:blip r:embed="rId2"/>
              <a:stretch>
                <a:fillRect l="0" t="0" r="0" b="0"/>
              </a:stretch>
            </a:blipFill>
          </p:spPr>
        </p:sp>
      </p:grpSp>
      <p:grpSp>
        <p:nvGrpSpPr>
          <p:cNvPr name="Group 4" id="4"/>
          <p:cNvGrpSpPr/>
          <p:nvPr/>
        </p:nvGrpSpPr>
        <p:grpSpPr>
          <a:xfrm rot="0">
            <a:off x="-9525" y="0"/>
            <a:ext cx="17519956" cy="10287000"/>
            <a:chOff x="0" y="0"/>
            <a:chExt cx="24384000" cy="14317285"/>
          </a:xfrm>
        </p:grpSpPr>
        <p:sp>
          <p:nvSpPr>
            <p:cNvPr name="Freeform 5" id="5"/>
            <p:cNvSpPr/>
            <p:nvPr/>
          </p:nvSpPr>
          <p:spPr>
            <a:xfrm flipH="false" flipV="false" rot="0">
              <a:off x="0" y="0"/>
              <a:ext cx="24384000" cy="14317345"/>
            </a:xfrm>
            <a:custGeom>
              <a:avLst/>
              <a:gdLst/>
              <a:ahLst/>
              <a:cxnLst/>
              <a:rect r="r" b="b" t="t" l="l"/>
              <a:pathLst>
                <a:path h="14317345" w="24384000">
                  <a:moveTo>
                    <a:pt x="0" y="0"/>
                  </a:moveTo>
                  <a:lnTo>
                    <a:pt x="24384000" y="0"/>
                  </a:lnTo>
                  <a:lnTo>
                    <a:pt x="24384000" y="14317345"/>
                  </a:lnTo>
                  <a:lnTo>
                    <a:pt x="0" y="14317345"/>
                  </a:lnTo>
                  <a:lnTo>
                    <a:pt x="0" y="0"/>
                  </a:lnTo>
                  <a:close/>
                </a:path>
              </a:pathLst>
            </a:custGeom>
            <a:blipFill>
              <a:blip r:embed="rId3"/>
              <a:stretch>
                <a:fillRect l="0" t="-69973" r="0" b="-69972"/>
              </a:stretch>
            </a:blipFill>
          </p:spPr>
        </p:sp>
      </p:grpSp>
      <p:grpSp>
        <p:nvGrpSpPr>
          <p:cNvPr name="Group 6" id="6"/>
          <p:cNvGrpSpPr/>
          <p:nvPr/>
        </p:nvGrpSpPr>
        <p:grpSpPr>
          <a:xfrm rot="0">
            <a:off x="1107206" y="2056574"/>
            <a:ext cx="15286494" cy="7748602"/>
            <a:chOff x="0" y="0"/>
            <a:chExt cx="18242710" cy="9247085"/>
          </a:xfrm>
        </p:grpSpPr>
        <p:sp>
          <p:nvSpPr>
            <p:cNvPr name="Freeform 7" id="7"/>
            <p:cNvSpPr/>
            <p:nvPr/>
          </p:nvSpPr>
          <p:spPr>
            <a:xfrm flipH="false" flipV="false" rot="0">
              <a:off x="0" y="0"/>
              <a:ext cx="18242710" cy="9247085"/>
            </a:xfrm>
            <a:custGeom>
              <a:avLst/>
              <a:gdLst/>
              <a:ahLst/>
              <a:cxnLst/>
              <a:rect r="r" b="b" t="t" l="l"/>
              <a:pathLst>
                <a:path h="9247085" w="18242710">
                  <a:moveTo>
                    <a:pt x="0" y="0"/>
                  </a:moveTo>
                  <a:lnTo>
                    <a:pt x="18242710" y="0"/>
                  </a:lnTo>
                  <a:lnTo>
                    <a:pt x="18242710" y="9247085"/>
                  </a:lnTo>
                  <a:lnTo>
                    <a:pt x="0" y="9247085"/>
                  </a:lnTo>
                  <a:close/>
                </a:path>
              </a:pathLst>
            </a:custGeom>
            <a:solidFill>
              <a:srgbClr val="000000">
                <a:alpha val="0"/>
              </a:srgbClr>
            </a:solidFill>
          </p:spPr>
        </p:sp>
        <p:sp>
          <p:nvSpPr>
            <p:cNvPr name="TextBox 8" id="8"/>
            <p:cNvSpPr txBox="true"/>
            <p:nvPr/>
          </p:nvSpPr>
          <p:spPr>
            <a:xfrm>
              <a:off x="0" y="-76200"/>
              <a:ext cx="18242710" cy="9323285"/>
            </a:xfrm>
            <a:prstGeom prst="rect">
              <a:avLst/>
            </a:prstGeom>
          </p:spPr>
          <p:txBody>
            <a:bodyPr anchor="t" rtlCol="false" tIns="0" lIns="0" bIns="0" rIns="0"/>
            <a:lstStyle/>
            <a:p>
              <a:pPr algn="just">
                <a:lnSpc>
                  <a:spcPts val="5040"/>
                </a:lnSpc>
              </a:pPr>
              <a:r>
                <a:rPr lang="en-US" sz="3600" b="true">
                  <a:solidFill>
                    <a:srgbClr val="FFFFFF"/>
                  </a:solidFill>
                  <a:latin typeface="HK Grotesk Bold"/>
                  <a:ea typeface="HK Grotesk Bold"/>
                  <a:cs typeface="HK Grotesk Bold"/>
                  <a:sym typeface="HK Grotesk Bold"/>
                </a:rPr>
                <a:t>Smart Feedback System</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System speaks only when emotion changes → avoids repetition.</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Deletes old audio files before creating new ones.</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Feedback is quick, clear, and hands-free.</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Example: If emotion = Sleep, system says “You are feeling Sleepy”</a:t>
              </a:r>
            </a:p>
            <a:p>
              <a:pPr algn="just">
                <a:lnSpc>
                  <a:spcPts val="5040"/>
                </a:lnSpc>
              </a:pPr>
              <a:r>
                <a:rPr lang="en-US" sz="3600" b="true">
                  <a:solidFill>
                    <a:srgbClr val="FFFFFF"/>
                  </a:solidFill>
                  <a:latin typeface="HK Grotesk Bold"/>
                  <a:ea typeface="HK Grotesk Bold"/>
                  <a:cs typeface="HK Grotesk Bold"/>
                  <a:sym typeface="HK Grotesk Bold"/>
                </a:rPr>
                <a:t>Dual Application Design</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Mode 1: Assistive Tech for Blind</a:t>
              </a:r>
            </a:p>
            <a:p>
              <a:pPr algn="just" marL="1554480" indent="-518160" lvl="2">
                <a:lnSpc>
                  <a:spcPts val="5040"/>
                </a:lnSpc>
                <a:buFont typeface="Arial"/>
                <a:buChar char="⚬"/>
              </a:pPr>
              <a:r>
                <a:rPr lang="en-US" sz="3600">
                  <a:solidFill>
                    <a:srgbClr val="FFFFFF"/>
                  </a:solidFill>
                  <a:latin typeface="HK Grotesk"/>
                  <a:ea typeface="HK Grotesk"/>
                  <a:cs typeface="HK Grotesk"/>
                  <a:sym typeface="HK Grotesk"/>
                </a:rPr>
                <a:t>Announces emotions using speech.</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Mode 2: Driver Alertness System</a:t>
              </a:r>
            </a:p>
            <a:p>
              <a:pPr algn="just" marL="1554480" indent="-518160" lvl="2">
                <a:lnSpc>
                  <a:spcPts val="5040"/>
                </a:lnSpc>
                <a:buFont typeface="Arial"/>
                <a:buChar char="⚬"/>
              </a:pPr>
              <a:r>
                <a:rPr lang="en-US" sz="3600">
                  <a:solidFill>
                    <a:srgbClr val="FFFFFF"/>
                  </a:solidFill>
                  <a:latin typeface="HK Grotesk"/>
                  <a:ea typeface="HK Grotesk"/>
                  <a:cs typeface="HK Grotesk"/>
                  <a:sym typeface="HK Grotesk"/>
                </a:rPr>
                <a:t>Detects "Sleepy" and alerts the driver.</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Both modes use same core CNN model with different use cases.</a:t>
              </a:r>
            </a:p>
            <a:p>
              <a:pPr algn="just">
                <a:lnSpc>
                  <a:spcPts val="5040"/>
                </a:lnSpc>
              </a:pPr>
            </a:p>
          </p:txBody>
        </p:sp>
      </p:grpSp>
      <p:grpSp>
        <p:nvGrpSpPr>
          <p:cNvPr name="Group 9" id="9"/>
          <p:cNvGrpSpPr/>
          <p:nvPr/>
        </p:nvGrpSpPr>
        <p:grpSpPr>
          <a:xfrm rot="0">
            <a:off x="1261295" y="640193"/>
            <a:ext cx="8245072" cy="1161404"/>
            <a:chOff x="0" y="0"/>
            <a:chExt cx="10993430" cy="1548538"/>
          </a:xfrm>
        </p:grpSpPr>
        <p:sp>
          <p:nvSpPr>
            <p:cNvPr name="Freeform 10" id="10"/>
            <p:cNvSpPr/>
            <p:nvPr/>
          </p:nvSpPr>
          <p:spPr>
            <a:xfrm flipH="false" flipV="false" rot="0">
              <a:off x="0" y="0"/>
              <a:ext cx="10993429" cy="1548538"/>
            </a:xfrm>
            <a:custGeom>
              <a:avLst/>
              <a:gdLst/>
              <a:ahLst/>
              <a:cxnLst/>
              <a:rect r="r" b="b" t="t" l="l"/>
              <a:pathLst>
                <a:path h="1548538" w="10993429">
                  <a:moveTo>
                    <a:pt x="0" y="0"/>
                  </a:moveTo>
                  <a:lnTo>
                    <a:pt x="10993429" y="0"/>
                  </a:lnTo>
                  <a:lnTo>
                    <a:pt x="10993429" y="1548538"/>
                  </a:lnTo>
                  <a:lnTo>
                    <a:pt x="0" y="1548538"/>
                  </a:lnTo>
                  <a:close/>
                </a:path>
              </a:pathLst>
            </a:custGeom>
            <a:solidFill>
              <a:srgbClr val="000000">
                <a:alpha val="0"/>
              </a:srgbClr>
            </a:solidFill>
          </p:spPr>
        </p:sp>
        <p:sp>
          <p:nvSpPr>
            <p:cNvPr name="TextBox 11" id="11"/>
            <p:cNvSpPr txBox="true"/>
            <p:nvPr/>
          </p:nvSpPr>
          <p:spPr>
            <a:xfrm>
              <a:off x="0" y="38100"/>
              <a:ext cx="10993430" cy="1510438"/>
            </a:xfrm>
            <a:prstGeom prst="rect">
              <a:avLst/>
            </a:prstGeom>
          </p:spPr>
          <p:txBody>
            <a:bodyPr anchor="t" rtlCol="false" tIns="0" lIns="0" bIns="0" rIns="0"/>
            <a:lstStyle/>
            <a:p>
              <a:pPr algn="l">
                <a:lnSpc>
                  <a:spcPts val="7339"/>
                </a:lnSpc>
              </a:pPr>
              <a:r>
                <a:rPr lang="en-US" sz="6494" b="true">
                  <a:solidFill>
                    <a:srgbClr val="FFFFFF"/>
                  </a:solidFill>
                  <a:latin typeface="Glacial Indifference Bold"/>
                  <a:ea typeface="Glacial Indifference Bold"/>
                  <a:cs typeface="Glacial Indifference Bold"/>
                  <a:sym typeface="Glacial Indifference Bold"/>
                </a:rPr>
                <a:t>IMPLEMENTATION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5400000">
            <a:off x="3837896" y="-3856946"/>
            <a:ext cx="10287000" cy="18000893"/>
            <a:chOff x="0" y="0"/>
            <a:chExt cx="13716000" cy="24001191"/>
          </a:xfrm>
        </p:grpSpPr>
        <p:sp>
          <p:nvSpPr>
            <p:cNvPr name="Freeform 5" id="5"/>
            <p:cNvSpPr/>
            <p:nvPr/>
          </p:nvSpPr>
          <p:spPr>
            <a:xfrm flipH="false" flipV="true" rot="0">
              <a:off x="0" y="0"/>
              <a:ext cx="13716000" cy="24001222"/>
            </a:xfrm>
            <a:custGeom>
              <a:avLst/>
              <a:gdLst/>
              <a:ahLst/>
              <a:cxnLst/>
              <a:rect r="r" b="b" t="t" l="l"/>
              <a:pathLst>
                <a:path h="24001222" w="13716000">
                  <a:moveTo>
                    <a:pt x="0" y="24001222"/>
                  </a:moveTo>
                  <a:lnTo>
                    <a:pt x="13716000" y="24001222"/>
                  </a:lnTo>
                  <a:lnTo>
                    <a:pt x="13716000" y="0"/>
                  </a:lnTo>
                  <a:lnTo>
                    <a:pt x="0" y="0"/>
                  </a:lnTo>
                  <a:lnTo>
                    <a:pt x="0" y="24001222"/>
                  </a:lnTo>
                  <a:close/>
                </a:path>
              </a:pathLst>
            </a:custGeom>
            <a:blipFill>
              <a:blip r:embed="rId3"/>
              <a:stretch>
                <a:fillRect l="-12101" t="0" r="-12101" b="0"/>
              </a:stretch>
            </a:blipFill>
          </p:spPr>
        </p:sp>
      </p:grpSp>
      <p:grpSp>
        <p:nvGrpSpPr>
          <p:cNvPr name="Group 6" id="6"/>
          <p:cNvGrpSpPr/>
          <p:nvPr/>
        </p:nvGrpSpPr>
        <p:grpSpPr>
          <a:xfrm rot="0">
            <a:off x="4447526" y="1438123"/>
            <a:ext cx="10568822" cy="1184584"/>
            <a:chOff x="0" y="0"/>
            <a:chExt cx="14091762" cy="1579445"/>
          </a:xfrm>
        </p:grpSpPr>
        <p:sp>
          <p:nvSpPr>
            <p:cNvPr name="Freeform 7" id="7"/>
            <p:cNvSpPr/>
            <p:nvPr/>
          </p:nvSpPr>
          <p:spPr>
            <a:xfrm flipH="false" flipV="false" rot="0">
              <a:off x="0" y="0"/>
              <a:ext cx="14091762" cy="1579445"/>
            </a:xfrm>
            <a:custGeom>
              <a:avLst/>
              <a:gdLst/>
              <a:ahLst/>
              <a:cxnLst/>
              <a:rect r="r" b="b" t="t" l="l"/>
              <a:pathLst>
                <a:path h="1579445" w="14091762">
                  <a:moveTo>
                    <a:pt x="0" y="0"/>
                  </a:moveTo>
                  <a:lnTo>
                    <a:pt x="14091762" y="0"/>
                  </a:lnTo>
                  <a:lnTo>
                    <a:pt x="14091762" y="1579445"/>
                  </a:lnTo>
                  <a:lnTo>
                    <a:pt x="0" y="1579445"/>
                  </a:lnTo>
                  <a:close/>
                </a:path>
              </a:pathLst>
            </a:custGeom>
            <a:solidFill>
              <a:srgbClr val="000000">
                <a:alpha val="0"/>
              </a:srgbClr>
            </a:solidFill>
          </p:spPr>
        </p:sp>
        <p:sp>
          <p:nvSpPr>
            <p:cNvPr name="TextBox 8" id="8"/>
            <p:cNvSpPr txBox="true"/>
            <p:nvPr/>
          </p:nvSpPr>
          <p:spPr>
            <a:xfrm>
              <a:off x="0" y="38100"/>
              <a:ext cx="14091762" cy="1541345"/>
            </a:xfrm>
            <a:prstGeom prst="rect">
              <a:avLst/>
            </a:prstGeom>
          </p:spPr>
          <p:txBody>
            <a:bodyPr anchor="t" rtlCol="false" tIns="0" lIns="0" bIns="0" rIns="0"/>
            <a:lstStyle/>
            <a:p>
              <a:pPr algn="just">
                <a:lnSpc>
                  <a:spcPts val="7462"/>
                </a:lnSpc>
              </a:pPr>
              <a:r>
                <a:rPr lang="en-US" sz="6604" b="true">
                  <a:solidFill>
                    <a:srgbClr val="FFFFFF"/>
                  </a:solidFill>
                  <a:latin typeface="Glacial Indifference Bold"/>
                  <a:ea typeface="Glacial Indifference Bold"/>
                  <a:cs typeface="Glacial Indifference Bold"/>
                  <a:sym typeface="Glacial Indifference Bold"/>
                </a:rPr>
                <a:t>RESULT AND ANALYSIS</a:t>
              </a:r>
            </a:p>
          </p:txBody>
        </p:sp>
      </p:grpSp>
      <p:grpSp>
        <p:nvGrpSpPr>
          <p:cNvPr name="Group 9" id="9"/>
          <p:cNvGrpSpPr/>
          <p:nvPr/>
        </p:nvGrpSpPr>
        <p:grpSpPr>
          <a:xfrm rot="0">
            <a:off x="3542221" y="3021838"/>
            <a:ext cx="14115251" cy="5641609"/>
            <a:chOff x="0" y="0"/>
            <a:chExt cx="18820334" cy="7522146"/>
          </a:xfrm>
        </p:grpSpPr>
        <p:sp>
          <p:nvSpPr>
            <p:cNvPr name="Freeform 10" id="10"/>
            <p:cNvSpPr/>
            <p:nvPr/>
          </p:nvSpPr>
          <p:spPr>
            <a:xfrm flipH="false" flipV="false" rot="0">
              <a:off x="0" y="0"/>
              <a:ext cx="18820333" cy="7522146"/>
            </a:xfrm>
            <a:custGeom>
              <a:avLst/>
              <a:gdLst/>
              <a:ahLst/>
              <a:cxnLst/>
              <a:rect r="r" b="b" t="t" l="l"/>
              <a:pathLst>
                <a:path h="7522146" w="18820333">
                  <a:moveTo>
                    <a:pt x="0" y="0"/>
                  </a:moveTo>
                  <a:lnTo>
                    <a:pt x="18820333" y="0"/>
                  </a:lnTo>
                  <a:lnTo>
                    <a:pt x="18820333" y="7522146"/>
                  </a:lnTo>
                  <a:lnTo>
                    <a:pt x="0" y="7522146"/>
                  </a:lnTo>
                  <a:close/>
                </a:path>
              </a:pathLst>
            </a:custGeom>
            <a:solidFill>
              <a:srgbClr val="000000">
                <a:alpha val="0"/>
              </a:srgbClr>
            </a:solidFill>
          </p:spPr>
        </p:sp>
        <p:sp>
          <p:nvSpPr>
            <p:cNvPr name="TextBox 11" id="11"/>
            <p:cNvSpPr txBox="true"/>
            <p:nvPr/>
          </p:nvSpPr>
          <p:spPr>
            <a:xfrm>
              <a:off x="0" y="-209550"/>
              <a:ext cx="18820334" cy="7731696"/>
            </a:xfrm>
            <a:prstGeom prst="rect">
              <a:avLst/>
            </a:prstGeom>
          </p:spPr>
          <p:txBody>
            <a:bodyPr anchor="t" rtlCol="false" tIns="0" lIns="0" bIns="0" rIns="0"/>
            <a:lstStyle/>
            <a:p>
              <a:pPr algn="just" marL="777240" indent="-388620" lvl="1">
                <a:lnSpc>
                  <a:spcPts val="6480"/>
                </a:lnSpc>
                <a:buFont typeface="Arial"/>
                <a:buChar char="•"/>
              </a:pPr>
              <a:r>
                <a:rPr lang="en-US" sz="3600">
                  <a:solidFill>
                    <a:srgbClr val="FFFFFF"/>
                  </a:solidFill>
                  <a:latin typeface="HK Grotesk"/>
                  <a:ea typeface="HK Grotesk"/>
                  <a:cs typeface="HK Grotesk"/>
                  <a:sym typeface="HK Grotesk"/>
                </a:rPr>
                <a:t>Final Test Accuracy: 60.81%</a:t>
              </a:r>
            </a:p>
            <a:p>
              <a:pPr algn="just" marL="777240" indent="-388620" lvl="1">
                <a:lnSpc>
                  <a:spcPts val="6480"/>
                </a:lnSpc>
                <a:buFont typeface="Arial"/>
                <a:buChar char="•"/>
              </a:pPr>
              <a:r>
                <a:rPr lang="en-US" sz="3600">
                  <a:solidFill>
                    <a:srgbClr val="FFFFFF"/>
                  </a:solidFill>
                  <a:latin typeface="HK Grotesk"/>
                  <a:ea typeface="HK Grotesk"/>
                  <a:cs typeface="HK Grotesk"/>
                  <a:sym typeface="HK Grotesk"/>
                </a:rPr>
                <a:t>Final Test Loss: 1.065</a:t>
              </a:r>
            </a:p>
            <a:p>
              <a:pPr algn="just" marL="777240" indent="-388620" lvl="1">
                <a:lnSpc>
                  <a:spcPts val="6480"/>
                </a:lnSpc>
                <a:buFont typeface="Arial"/>
                <a:buChar char="•"/>
              </a:pPr>
              <a:r>
                <a:rPr lang="en-US" sz="3600">
                  <a:solidFill>
                    <a:srgbClr val="FFFFFF"/>
                  </a:solidFill>
                  <a:latin typeface="HK Grotesk"/>
                  <a:ea typeface="HK Grotesk"/>
                  <a:cs typeface="HK Grotesk"/>
                  <a:sym typeface="HK Grotesk"/>
                </a:rPr>
                <a:t>Best performing classes:</a:t>
              </a:r>
            </a:p>
            <a:p>
              <a:pPr algn="just" marL="1554480" indent="-518160" lvl="2">
                <a:lnSpc>
                  <a:spcPts val="6480"/>
                </a:lnSpc>
                <a:buFont typeface="Arial"/>
                <a:buChar char="⚬"/>
              </a:pPr>
              <a:r>
                <a:rPr lang="en-US" sz="3600">
                  <a:solidFill>
                    <a:srgbClr val="FFFFFF"/>
                  </a:solidFill>
                  <a:latin typeface="HK Grotesk"/>
                  <a:ea typeface="HK Grotesk"/>
                  <a:cs typeface="HK Grotesk"/>
                  <a:sym typeface="HK Grotesk"/>
                </a:rPr>
                <a:t>Sleep (F1-score: 0.91)</a:t>
              </a:r>
            </a:p>
            <a:p>
              <a:pPr algn="just" marL="1554480" indent="-518160" lvl="2">
                <a:lnSpc>
                  <a:spcPts val="6480"/>
                </a:lnSpc>
                <a:buFont typeface="Arial"/>
                <a:buChar char="⚬"/>
              </a:pPr>
              <a:r>
                <a:rPr lang="en-US" sz="3600">
                  <a:solidFill>
                    <a:srgbClr val="FFFFFF"/>
                  </a:solidFill>
                  <a:latin typeface="HK Grotesk"/>
                  <a:ea typeface="HK Grotesk"/>
                  <a:cs typeface="HK Grotesk"/>
                  <a:sym typeface="HK Grotesk"/>
                </a:rPr>
                <a:t>Happy (F1-score: 0.81)</a:t>
              </a:r>
            </a:p>
            <a:p>
              <a:pPr algn="just" marL="777240" indent="-388620" lvl="1">
                <a:lnSpc>
                  <a:spcPts val="6480"/>
                </a:lnSpc>
                <a:buFont typeface="Arial"/>
                <a:buChar char="•"/>
              </a:pPr>
              <a:r>
                <a:rPr lang="en-US" sz="3600">
                  <a:solidFill>
                    <a:srgbClr val="FFFFFF"/>
                  </a:solidFill>
                  <a:latin typeface="HK Grotesk"/>
                  <a:ea typeface="HK Grotesk"/>
                  <a:cs typeface="HK Grotesk"/>
                  <a:sym typeface="HK Grotesk"/>
                </a:rPr>
                <a:t>Validation accuracy closely follows training → good generalization</a:t>
              </a:r>
            </a:p>
            <a:p>
              <a:pPr algn="just" marL="777240" indent="-388620" lvl="1">
                <a:lnSpc>
                  <a:spcPts val="6480"/>
                </a:lnSpc>
                <a:buFont typeface="Arial"/>
                <a:buChar char="•"/>
              </a:pPr>
              <a:r>
                <a:rPr lang="en-US" sz="3600">
                  <a:solidFill>
                    <a:srgbClr val="FFFFFF"/>
                  </a:solidFill>
                  <a:latin typeface="HK Grotesk"/>
                  <a:ea typeface="HK Grotesk"/>
                  <a:cs typeface="HK Grotesk"/>
                  <a:sym typeface="HK Grotesk"/>
                </a:rPr>
                <a:t>Accuracy plotted for Training, Validation, and Testing.</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5400000">
            <a:off x="3856946" y="-3856946"/>
            <a:ext cx="10287000" cy="18000893"/>
            <a:chOff x="0" y="0"/>
            <a:chExt cx="13716000" cy="24001191"/>
          </a:xfrm>
        </p:grpSpPr>
        <p:sp>
          <p:nvSpPr>
            <p:cNvPr name="Freeform 5" id="5"/>
            <p:cNvSpPr/>
            <p:nvPr/>
          </p:nvSpPr>
          <p:spPr>
            <a:xfrm flipH="false" flipV="true" rot="0">
              <a:off x="0" y="0"/>
              <a:ext cx="13716000" cy="24001222"/>
            </a:xfrm>
            <a:custGeom>
              <a:avLst/>
              <a:gdLst/>
              <a:ahLst/>
              <a:cxnLst/>
              <a:rect r="r" b="b" t="t" l="l"/>
              <a:pathLst>
                <a:path h="24001222" w="13716000">
                  <a:moveTo>
                    <a:pt x="0" y="24001222"/>
                  </a:moveTo>
                  <a:lnTo>
                    <a:pt x="13716000" y="24001222"/>
                  </a:lnTo>
                  <a:lnTo>
                    <a:pt x="13716000" y="0"/>
                  </a:lnTo>
                  <a:lnTo>
                    <a:pt x="0" y="0"/>
                  </a:lnTo>
                  <a:lnTo>
                    <a:pt x="0" y="24001222"/>
                  </a:lnTo>
                  <a:close/>
                </a:path>
              </a:pathLst>
            </a:custGeom>
            <a:blipFill>
              <a:blip r:embed="rId3"/>
              <a:stretch>
                <a:fillRect l="-12101" t="0" r="-12101" b="0"/>
              </a:stretch>
            </a:blipFill>
          </p:spPr>
        </p:sp>
      </p:grpSp>
      <p:sp>
        <p:nvSpPr>
          <p:cNvPr name="Freeform 6" id="6"/>
          <p:cNvSpPr/>
          <p:nvPr/>
        </p:nvSpPr>
        <p:spPr>
          <a:xfrm flipH="false" flipV="false" rot="0">
            <a:off x="4202260" y="722981"/>
            <a:ext cx="11516670" cy="7716169"/>
          </a:xfrm>
          <a:custGeom>
            <a:avLst/>
            <a:gdLst/>
            <a:ahLst/>
            <a:cxnLst/>
            <a:rect r="r" b="b" t="t" l="l"/>
            <a:pathLst>
              <a:path h="7716169" w="11516670">
                <a:moveTo>
                  <a:pt x="0" y="0"/>
                </a:moveTo>
                <a:lnTo>
                  <a:pt x="11516670" y="0"/>
                </a:lnTo>
                <a:lnTo>
                  <a:pt x="11516670" y="7716169"/>
                </a:lnTo>
                <a:lnTo>
                  <a:pt x="0" y="7716169"/>
                </a:lnTo>
                <a:lnTo>
                  <a:pt x="0" y="0"/>
                </a:lnTo>
                <a:close/>
              </a:path>
            </a:pathLst>
          </a:custGeom>
          <a:blipFill>
            <a:blip r:embed="rId4"/>
            <a:stretch>
              <a:fillRect l="0" t="0" r="0" b="0"/>
            </a:stretch>
          </a:blipFill>
        </p:spPr>
      </p:sp>
      <p:sp>
        <p:nvSpPr>
          <p:cNvPr name="TextBox 7" id="7"/>
          <p:cNvSpPr txBox="true"/>
          <p:nvPr/>
        </p:nvSpPr>
        <p:spPr>
          <a:xfrm rot="0">
            <a:off x="4327141" y="8992692"/>
            <a:ext cx="11516670" cy="540742"/>
          </a:xfrm>
          <a:prstGeom prst="rect">
            <a:avLst/>
          </a:prstGeom>
        </p:spPr>
        <p:txBody>
          <a:bodyPr anchor="t" rtlCol="false" tIns="0" lIns="0" bIns="0" rIns="0">
            <a:spAutoFit/>
          </a:bodyPr>
          <a:lstStyle/>
          <a:p>
            <a:pPr algn="ctr">
              <a:lnSpc>
                <a:spcPts val="2147"/>
              </a:lnSpc>
              <a:spcBef>
                <a:spcPct val="0"/>
              </a:spcBef>
            </a:pPr>
            <a:r>
              <a:rPr lang="en-US" b="true" sz="1899">
                <a:solidFill>
                  <a:srgbClr val="FFFFFF"/>
                </a:solidFill>
                <a:latin typeface="Glacial Indifference Bold"/>
                <a:ea typeface="Glacial Indifference Bold"/>
                <a:cs typeface="Glacial Indifference Bold"/>
                <a:sym typeface="Glacial Indifference Bold"/>
              </a:rPr>
              <a:t>Training and validation accuracy and loss curves depicting model learning progress and convergence trends.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5400000">
            <a:off x="3856946" y="-3856946"/>
            <a:ext cx="10287000" cy="18000893"/>
            <a:chOff x="0" y="0"/>
            <a:chExt cx="13716000" cy="24001191"/>
          </a:xfrm>
        </p:grpSpPr>
        <p:sp>
          <p:nvSpPr>
            <p:cNvPr name="Freeform 5" id="5"/>
            <p:cNvSpPr/>
            <p:nvPr/>
          </p:nvSpPr>
          <p:spPr>
            <a:xfrm flipH="false" flipV="true" rot="0">
              <a:off x="0" y="0"/>
              <a:ext cx="13716000" cy="24001222"/>
            </a:xfrm>
            <a:custGeom>
              <a:avLst/>
              <a:gdLst/>
              <a:ahLst/>
              <a:cxnLst/>
              <a:rect r="r" b="b" t="t" l="l"/>
              <a:pathLst>
                <a:path h="24001222" w="13716000">
                  <a:moveTo>
                    <a:pt x="0" y="24001222"/>
                  </a:moveTo>
                  <a:lnTo>
                    <a:pt x="13716000" y="24001222"/>
                  </a:lnTo>
                  <a:lnTo>
                    <a:pt x="13716000" y="0"/>
                  </a:lnTo>
                  <a:lnTo>
                    <a:pt x="0" y="0"/>
                  </a:lnTo>
                  <a:lnTo>
                    <a:pt x="0" y="24001222"/>
                  </a:lnTo>
                  <a:close/>
                </a:path>
              </a:pathLst>
            </a:custGeom>
            <a:blipFill>
              <a:blip r:embed="rId3"/>
              <a:stretch>
                <a:fillRect l="-12101" t="0" r="-12101" b="0"/>
              </a:stretch>
            </a:blipFill>
          </p:spPr>
        </p:sp>
      </p:grpSp>
      <p:sp>
        <p:nvSpPr>
          <p:cNvPr name="Freeform 6" id="6"/>
          <p:cNvSpPr/>
          <p:nvPr/>
        </p:nvSpPr>
        <p:spPr>
          <a:xfrm flipH="false" flipV="false" rot="0">
            <a:off x="5290736" y="1508498"/>
            <a:ext cx="9994432" cy="6221534"/>
          </a:xfrm>
          <a:custGeom>
            <a:avLst/>
            <a:gdLst/>
            <a:ahLst/>
            <a:cxnLst/>
            <a:rect r="r" b="b" t="t" l="l"/>
            <a:pathLst>
              <a:path h="6221534" w="9994432">
                <a:moveTo>
                  <a:pt x="0" y="0"/>
                </a:moveTo>
                <a:lnTo>
                  <a:pt x="9994433" y="0"/>
                </a:lnTo>
                <a:lnTo>
                  <a:pt x="9994433" y="6221535"/>
                </a:lnTo>
                <a:lnTo>
                  <a:pt x="0" y="6221535"/>
                </a:lnTo>
                <a:lnTo>
                  <a:pt x="0" y="0"/>
                </a:lnTo>
                <a:close/>
              </a:path>
            </a:pathLst>
          </a:custGeom>
          <a:blipFill>
            <a:blip r:embed="rId4"/>
            <a:stretch>
              <a:fillRect l="0" t="0" r="0" b="0"/>
            </a:stretch>
          </a:blipFill>
        </p:spPr>
      </p:sp>
      <p:sp>
        <p:nvSpPr>
          <p:cNvPr name="TextBox 7" id="7"/>
          <p:cNvSpPr txBox="true"/>
          <p:nvPr/>
        </p:nvSpPr>
        <p:spPr>
          <a:xfrm rot="0">
            <a:off x="5475744" y="8450858"/>
            <a:ext cx="9624416" cy="807442"/>
          </a:xfrm>
          <a:prstGeom prst="rect">
            <a:avLst/>
          </a:prstGeom>
        </p:spPr>
        <p:txBody>
          <a:bodyPr anchor="t" rtlCol="false" tIns="0" lIns="0" bIns="0" rIns="0">
            <a:spAutoFit/>
          </a:bodyPr>
          <a:lstStyle/>
          <a:p>
            <a:pPr algn="ctr">
              <a:lnSpc>
                <a:spcPts val="2147"/>
              </a:lnSpc>
              <a:spcBef>
                <a:spcPct val="0"/>
              </a:spcBef>
            </a:pPr>
            <a:r>
              <a:rPr lang="en-US" b="true" sz="1899">
                <a:solidFill>
                  <a:srgbClr val="FFFFFF"/>
                </a:solidFill>
                <a:latin typeface="Glacial Indifference Bold"/>
                <a:ea typeface="Glacial Indifference Bold"/>
                <a:cs typeface="Glacial Indifference Bold"/>
                <a:sym typeface="Glacial Indifference Bold"/>
              </a:rPr>
              <a:t>Real-time system output showing facial region detection and classification result. In this instance, the model has identified the “Sleep” state, which is overlaid on the video stream and simultaneously converted into speech feedback.</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5400000">
            <a:off x="3856946" y="-3856946"/>
            <a:ext cx="10287000" cy="18000893"/>
            <a:chOff x="0" y="0"/>
            <a:chExt cx="13716000" cy="24001191"/>
          </a:xfrm>
        </p:grpSpPr>
        <p:sp>
          <p:nvSpPr>
            <p:cNvPr name="Freeform 5" id="5"/>
            <p:cNvSpPr/>
            <p:nvPr/>
          </p:nvSpPr>
          <p:spPr>
            <a:xfrm flipH="false" flipV="true" rot="0">
              <a:off x="0" y="0"/>
              <a:ext cx="13716000" cy="24001222"/>
            </a:xfrm>
            <a:custGeom>
              <a:avLst/>
              <a:gdLst/>
              <a:ahLst/>
              <a:cxnLst/>
              <a:rect r="r" b="b" t="t" l="l"/>
              <a:pathLst>
                <a:path h="24001222" w="13716000">
                  <a:moveTo>
                    <a:pt x="0" y="24001222"/>
                  </a:moveTo>
                  <a:lnTo>
                    <a:pt x="13716000" y="24001222"/>
                  </a:lnTo>
                  <a:lnTo>
                    <a:pt x="13716000" y="0"/>
                  </a:lnTo>
                  <a:lnTo>
                    <a:pt x="0" y="0"/>
                  </a:lnTo>
                  <a:lnTo>
                    <a:pt x="0" y="24001222"/>
                  </a:lnTo>
                  <a:close/>
                </a:path>
              </a:pathLst>
            </a:custGeom>
            <a:blipFill>
              <a:blip r:embed="rId3"/>
              <a:stretch>
                <a:fillRect l="-12101" t="0" r="-12101" b="0"/>
              </a:stretch>
            </a:blipFill>
          </p:spPr>
        </p:sp>
      </p:grpSp>
      <p:grpSp>
        <p:nvGrpSpPr>
          <p:cNvPr name="Group 6" id="6"/>
          <p:cNvGrpSpPr/>
          <p:nvPr/>
        </p:nvGrpSpPr>
        <p:grpSpPr>
          <a:xfrm rot="0">
            <a:off x="5303544" y="1797154"/>
            <a:ext cx="10568822" cy="1184584"/>
            <a:chOff x="0" y="0"/>
            <a:chExt cx="14091762" cy="1579445"/>
          </a:xfrm>
        </p:grpSpPr>
        <p:sp>
          <p:nvSpPr>
            <p:cNvPr name="Freeform 7" id="7"/>
            <p:cNvSpPr/>
            <p:nvPr/>
          </p:nvSpPr>
          <p:spPr>
            <a:xfrm flipH="false" flipV="false" rot="0">
              <a:off x="0" y="0"/>
              <a:ext cx="14091762" cy="1579445"/>
            </a:xfrm>
            <a:custGeom>
              <a:avLst/>
              <a:gdLst/>
              <a:ahLst/>
              <a:cxnLst/>
              <a:rect r="r" b="b" t="t" l="l"/>
              <a:pathLst>
                <a:path h="1579445" w="14091762">
                  <a:moveTo>
                    <a:pt x="0" y="0"/>
                  </a:moveTo>
                  <a:lnTo>
                    <a:pt x="14091762" y="0"/>
                  </a:lnTo>
                  <a:lnTo>
                    <a:pt x="14091762" y="1579445"/>
                  </a:lnTo>
                  <a:lnTo>
                    <a:pt x="0" y="1579445"/>
                  </a:lnTo>
                  <a:close/>
                </a:path>
              </a:pathLst>
            </a:custGeom>
            <a:solidFill>
              <a:srgbClr val="000000">
                <a:alpha val="0"/>
              </a:srgbClr>
            </a:solidFill>
          </p:spPr>
        </p:sp>
        <p:sp>
          <p:nvSpPr>
            <p:cNvPr name="TextBox 8" id="8"/>
            <p:cNvSpPr txBox="true"/>
            <p:nvPr/>
          </p:nvSpPr>
          <p:spPr>
            <a:xfrm>
              <a:off x="0" y="38100"/>
              <a:ext cx="14091762" cy="1541345"/>
            </a:xfrm>
            <a:prstGeom prst="rect">
              <a:avLst/>
            </a:prstGeom>
          </p:spPr>
          <p:txBody>
            <a:bodyPr anchor="t" rtlCol="false" tIns="0" lIns="0" bIns="0" rIns="0"/>
            <a:lstStyle/>
            <a:p>
              <a:pPr algn="just">
                <a:lnSpc>
                  <a:spcPts val="7462"/>
                </a:lnSpc>
              </a:pPr>
              <a:r>
                <a:rPr lang="en-US" sz="6604" b="true">
                  <a:solidFill>
                    <a:srgbClr val="FFFFFF"/>
                  </a:solidFill>
                  <a:latin typeface="Glacial Indifference Bold"/>
                  <a:ea typeface="Glacial Indifference Bold"/>
                  <a:cs typeface="Glacial Indifference Bold"/>
                  <a:sym typeface="Glacial Indifference Bold"/>
                </a:rPr>
                <a:t>DISCUSSION</a:t>
              </a:r>
            </a:p>
          </p:txBody>
        </p:sp>
      </p:grpSp>
      <p:grpSp>
        <p:nvGrpSpPr>
          <p:cNvPr name="Group 9" id="9"/>
          <p:cNvGrpSpPr/>
          <p:nvPr/>
        </p:nvGrpSpPr>
        <p:grpSpPr>
          <a:xfrm rot="0">
            <a:off x="4978346" y="3123119"/>
            <a:ext cx="11219216" cy="5641609"/>
            <a:chOff x="0" y="0"/>
            <a:chExt cx="15443752" cy="7765927"/>
          </a:xfrm>
        </p:grpSpPr>
        <p:sp>
          <p:nvSpPr>
            <p:cNvPr name="Freeform 10" id="10"/>
            <p:cNvSpPr/>
            <p:nvPr/>
          </p:nvSpPr>
          <p:spPr>
            <a:xfrm flipH="false" flipV="false" rot="0">
              <a:off x="0" y="0"/>
              <a:ext cx="15443752" cy="7765927"/>
            </a:xfrm>
            <a:custGeom>
              <a:avLst/>
              <a:gdLst/>
              <a:ahLst/>
              <a:cxnLst/>
              <a:rect r="r" b="b" t="t" l="l"/>
              <a:pathLst>
                <a:path h="7765927" w="15443752">
                  <a:moveTo>
                    <a:pt x="0" y="0"/>
                  </a:moveTo>
                  <a:lnTo>
                    <a:pt x="15443752" y="0"/>
                  </a:lnTo>
                  <a:lnTo>
                    <a:pt x="15443752" y="7765927"/>
                  </a:lnTo>
                  <a:lnTo>
                    <a:pt x="0" y="7765927"/>
                  </a:lnTo>
                  <a:close/>
                </a:path>
              </a:pathLst>
            </a:custGeom>
            <a:solidFill>
              <a:srgbClr val="000000">
                <a:alpha val="0"/>
              </a:srgbClr>
            </a:solidFill>
          </p:spPr>
        </p:sp>
        <p:sp>
          <p:nvSpPr>
            <p:cNvPr name="TextBox 11" id="11"/>
            <p:cNvSpPr txBox="true"/>
            <p:nvPr/>
          </p:nvSpPr>
          <p:spPr>
            <a:xfrm>
              <a:off x="0" y="-209550"/>
              <a:ext cx="15443752" cy="7975477"/>
            </a:xfrm>
            <a:prstGeom prst="rect">
              <a:avLst/>
            </a:prstGeom>
          </p:spPr>
          <p:txBody>
            <a:bodyPr anchor="t" rtlCol="false" tIns="0" lIns="0" bIns="0" rIns="0"/>
            <a:lstStyle/>
            <a:p>
              <a:pPr algn="just" marL="777240" indent="-388620" lvl="1">
                <a:lnSpc>
                  <a:spcPts val="6480"/>
                </a:lnSpc>
                <a:buFont typeface="Arial"/>
                <a:buChar char="•"/>
              </a:pPr>
              <a:r>
                <a:rPr lang="en-US" sz="3600">
                  <a:solidFill>
                    <a:srgbClr val="FFFFFF"/>
                  </a:solidFill>
                  <a:latin typeface="HK Grotesk"/>
                  <a:ea typeface="HK Grotesk"/>
                  <a:cs typeface="HK Grotesk"/>
                  <a:sym typeface="HK Grotesk"/>
                </a:rPr>
                <a:t>Mod</a:t>
              </a:r>
              <a:r>
                <a:rPr lang="en-US" sz="3600">
                  <a:solidFill>
                    <a:srgbClr val="FFFFFF"/>
                  </a:solidFill>
                  <a:latin typeface="HK Grotesk"/>
                  <a:ea typeface="HK Grotesk"/>
                  <a:cs typeface="HK Grotesk"/>
                  <a:sym typeface="HK Grotesk"/>
                </a:rPr>
                <a:t>el performs well on dominant classes.</a:t>
              </a:r>
            </a:p>
            <a:p>
              <a:pPr algn="just" marL="777240" indent="-388620" lvl="1">
                <a:lnSpc>
                  <a:spcPts val="6480"/>
                </a:lnSpc>
                <a:buFont typeface="Arial"/>
                <a:buChar char="•"/>
              </a:pPr>
              <a:r>
                <a:rPr lang="en-US" sz="3600">
                  <a:solidFill>
                    <a:srgbClr val="FFFFFF"/>
                  </a:solidFill>
                  <a:latin typeface="HK Grotesk"/>
                  <a:ea typeface="HK Grotesk"/>
                  <a:cs typeface="HK Grotesk"/>
                  <a:sym typeface="HK Grotesk"/>
                </a:rPr>
                <a:t>Struggles with emotions like Fear due to fewer samples.</a:t>
              </a:r>
            </a:p>
            <a:p>
              <a:pPr algn="just" marL="777240" indent="-388620" lvl="1">
                <a:lnSpc>
                  <a:spcPts val="6480"/>
                </a:lnSpc>
                <a:buFont typeface="Arial"/>
                <a:buChar char="•"/>
              </a:pPr>
              <a:r>
                <a:rPr lang="en-US" sz="3600">
                  <a:solidFill>
                    <a:srgbClr val="FFFFFF"/>
                  </a:solidFill>
                  <a:latin typeface="HK Grotesk"/>
                  <a:ea typeface="HK Grotesk"/>
                  <a:cs typeface="HK Grotesk"/>
                  <a:sym typeface="HK Grotesk"/>
                </a:rPr>
                <a:t>Re</a:t>
              </a:r>
              <a:r>
                <a:rPr lang="en-US" sz="3600">
                  <a:solidFill>
                    <a:srgbClr val="FFFFFF"/>
                  </a:solidFill>
                  <a:latin typeface="HK Grotesk"/>
                  <a:ea typeface="HK Grotesk"/>
                  <a:cs typeface="HK Grotesk"/>
                  <a:sym typeface="HK Grotesk"/>
                </a:rPr>
                <a:t>al-time performance is smooth with low delay.</a:t>
              </a:r>
            </a:p>
            <a:p>
              <a:pPr algn="just" marL="777240" indent="-388620" lvl="1">
                <a:lnSpc>
                  <a:spcPts val="6480"/>
                </a:lnSpc>
                <a:buFont typeface="Arial"/>
                <a:buChar char="•"/>
              </a:pPr>
              <a:r>
                <a:rPr lang="en-US" sz="3600">
                  <a:solidFill>
                    <a:srgbClr val="FFFFFF"/>
                  </a:solidFill>
                  <a:latin typeface="HK Grotesk"/>
                  <a:ea typeface="HK Grotesk"/>
                  <a:cs typeface="HK Grotesk"/>
                  <a:sym typeface="HK Grotesk"/>
                </a:rPr>
                <a:t>Data imbalance still affects performance — can be improved.</a:t>
              </a:r>
            </a:p>
            <a:p>
              <a:pPr algn="just" marL="777240" indent="-388620" lvl="1">
                <a:lnSpc>
                  <a:spcPts val="6480"/>
                </a:lnSpc>
                <a:buFont typeface="Arial"/>
                <a:buChar char="•"/>
              </a:pPr>
              <a:r>
                <a:rPr lang="en-US" sz="3600">
                  <a:solidFill>
                    <a:srgbClr val="FFFFFF"/>
                  </a:solidFill>
                  <a:latin typeface="HK Grotesk"/>
                  <a:ea typeface="HK Grotesk"/>
                  <a:cs typeface="HK Grotesk"/>
                  <a:sym typeface="HK Grotesk"/>
                </a:rPr>
                <a:t>Sleep detection works reliably in live scenarios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tru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blipFill>
              <a:blip r:embed="rId2"/>
              <a:stretch>
                <a:fillRect l="0" t="0" r="0" b="0"/>
              </a:stretch>
            </a:blipFill>
          </p:spPr>
        </p:sp>
      </p:grpSp>
      <p:grpSp>
        <p:nvGrpSpPr>
          <p:cNvPr name="Group 4" id="4"/>
          <p:cNvGrpSpPr/>
          <p:nvPr/>
        </p:nvGrpSpPr>
        <p:grpSpPr>
          <a:xfrm rot="5400000">
            <a:off x="4010025" y="-4000500"/>
            <a:ext cx="10287000" cy="18288000"/>
            <a:chOff x="0" y="0"/>
            <a:chExt cx="13716000" cy="24384000"/>
          </a:xfrm>
        </p:grpSpPr>
        <p:sp>
          <p:nvSpPr>
            <p:cNvPr name="Freeform 5" id="5"/>
            <p:cNvSpPr/>
            <p:nvPr/>
          </p:nvSpPr>
          <p:spPr>
            <a:xfrm flipH="false" flipV="false" rot="0">
              <a:off x="0" y="0"/>
              <a:ext cx="13716000" cy="24384000"/>
            </a:xfrm>
            <a:custGeom>
              <a:avLst/>
              <a:gdLst/>
              <a:ahLst/>
              <a:cxnLst/>
              <a:rect r="r" b="b" t="t" l="l"/>
              <a:pathLst>
                <a:path h="24384000" w="13716000">
                  <a:moveTo>
                    <a:pt x="0" y="0"/>
                  </a:moveTo>
                  <a:lnTo>
                    <a:pt x="13716000" y="0"/>
                  </a:lnTo>
                  <a:lnTo>
                    <a:pt x="13716000" y="24384000"/>
                  </a:lnTo>
                  <a:lnTo>
                    <a:pt x="0" y="24384000"/>
                  </a:lnTo>
                  <a:lnTo>
                    <a:pt x="0" y="0"/>
                  </a:lnTo>
                  <a:close/>
                </a:path>
              </a:pathLst>
            </a:custGeom>
            <a:blipFill>
              <a:blip r:embed="rId3"/>
              <a:stretch>
                <a:fillRect l="-13092" t="0" r="-13092" b="0"/>
              </a:stretch>
            </a:blipFill>
          </p:spPr>
        </p:sp>
      </p:grpSp>
      <p:grpSp>
        <p:nvGrpSpPr>
          <p:cNvPr name="Group 6" id="6"/>
          <p:cNvGrpSpPr/>
          <p:nvPr/>
        </p:nvGrpSpPr>
        <p:grpSpPr>
          <a:xfrm rot="0">
            <a:off x="1261295" y="640193"/>
            <a:ext cx="8086875" cy="1279354"/>
            <a:chOff x="0" y="0"/>
            <a:chExt cx="10782500" cy="1705805"/>
          </a:xfrm>
        </p:grpSpPr>
        <p:sp>
          <p:nvSpPr>
            <p:cNvPr name="Freeform 7" id="7"/>
            <p:cNvSpPr/>
            <p:nvPr/>
          </p:nvSpPr>
          <p:spPr>
            <a:xfrm flipH="false" flipV="false" rot="0">
              <a:off x="0" y="0"/>
              <a:ext cx="10782500" cy="1705805"/>
            </a:xfrm>
            <a:custGeom>
              <a:avLst/>
              <a:gdLst/>
              <a:ahLst/>
              <a:cxnLst/>
              <a:rect r="r" b="b" t="t" l="l"/>
              <a:pathLst>
                <a:path h="1705805" w="10782500">
                  <a:moveTo>
                    <a:pt x="0" y="0"/>
                  </a:moveTo>
                  <a:lnTo>
                    <a:pt x="10782500" y="0"/>
                  </a:lnTo>
                  <a:lnTo>
                    <a:pt x="10782500" y="1705805"/>
                  </a:lnTo>
                  <a:lnTo>
                    <a:pt x="0" y="1705805"/>
                  </a:lnTo>
                  <a:close/>
                </a:path>
              </a:pathLst>
            </a:custGeom>
            <a:solidFill>
              <a:srgbClr val="000000">
                <a:alpha val="0"/>
              </a:srgbClr>
            </a:solidFill>
          </p:spPr>
        </p:sp>
        <p:sp>
          <p:nvSpPr>
            <p:cNvPr name="TextBox 8" id="8"/>
            <p:cNvSpPr txBox="true"/>
            <p:nvPr/>
          </p:nvSpPr>
          <p:spPr>
            <a:xfrm>
              <a:off x="0" y="38100"/>
              <a:ext cx="10782500" cy="1667705"/>
            </a:xfrm>
            <a:prstGeom prst="rect">
              <a:avLst/>
            </a:prstGeom>
          </p:spPr>
          <p:txBody>
            <a:bodyPr anchor="t" rtlCol="false" tIns="0" lIns="0" bIns="0" rIns="0"/>
            <a:lstStyle/>
            <a:p>
              <a:pPr algn="l">
                <a:lnSpc>
                  <a:spcPts val="8038"/>
                </a:lnSpc>
              </a:pPr>
              <a:r>
                <a:rPr lang="en-US" sz="7113" b="true">
                  <a:solidFill>
                    <a:srgbClr val="FFFFFF"/>
                  </a:solidFill>
                  <a:latin typeface="Glacial Indifference Bold"/>
                  <a:ea typeface="Glacial Indifference Bold"/>
                  <a:cs typeface="Glacial Indifference Bold"/>
                  <a:sym typeface="Glacial Indifference Bold"/>
                </a:rPr>
                <a:t>CONCLUSION</a:t>
              </a:r>
            </a:p>
          </p:txBody>
        </p:sp>
      </p:grpSp>
      <p:grpSp>
        <p:nvGrpSpPr>
          <p:cNvPr name="Group 9" id="9"/>
          <p:cNvGrpSpPr/>
          <p:nvPr/>
        </p:nvGrpSpPr>
        <p:grpSpPr>
          <a:xfrm rot="0">
            <a:off x="1028700" y="2164125"/>
            <a:ext cx="12128169" cy="6376719"/>
            <a:chOff x="0" y="0"/>
            <a:chExt cx="13815477" cy="7263868"/>
          </a:xfrm>
        </p:grpSpPr>
        <p:sp>
          <p:nvSpPr>
            <p:cNvPr name="Freeform 10" id="10"/>
            <p:cNvSpPr/>
            <p:nvPr/>
          </p:nvSpPr>
          <p:spPr>
            <a:xfrm flipH="false" flipV="false" rot="0">
              <a:off x="0" y="0"/>
              <a:ext cx="13815478" cy="7263867"/>
            </a:xfrm>
            <a:custGeom>
              <a:avLst/>
              <a:gdLst/>
              <a:ahLst/>
              <a:cxnLst/>
              <a:rect r="r" b="b" t="t" l="l"/>
              <a:pathLst>
                <a:path h="7263867" w="13815478">
                  <a:moveTo>
                    <a:pt x="0" y="0"/>
                  </a:moveTo>
                  <a:lnTo>
                    <a:pt x="13815478" y="0"/>
                  </a:lnTo>
                  <a:lnTo>
                    <a:pt x="13815478" y="7263867"/>
                  </a:lnTo>
                  <a:lnTo>
                    <a:pt x="0" y="7263867"/>
                  </a:lnTo>
                  <a:close/>
                </a:path>
              </a:pathLst>
            </a:custGeom>
            <a:solidFill>
              <a:srgbClr val="000000">
                <a:alpha val="0"/>
              </a:srgbClr>
            </a:solidFill>
          </p:spPr>
        </p:sp>
        <p:sp>
          <p:nvSpPr>
            <p:cNvPr name="TextBox 11" id="11"/>
            <p:cNvSpPr txBox="true"/>
            <p:nvPr/>
          </p:nvSpPr>
          <p:spPr>
            <a:xfrm>
              <a:off x="0" y="-76200"/>
              <a:ext cx="13815477" cy="7340068"/>
            </a:xfrm>
            <a:prstGeom prst="rect">
              <a:avLst/>
            </a:prstGeom>
          </p:spPr>
          <p:txBody>
            <a:bodyPr anchor="t" rtlCol="false" tIns="0" lIns="0" bIns="0" rIns="0"/>
            <a:lstStyle/>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Successfully built a real-time dual-purpose AI system.</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Helps blind people understand emotions using speech.</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Alerts drivers when they look sleepy.</a:t>
              </a:r>
            </a:p>
            <a:p>
              <a:pPr algn="just" marL="777240" indent="-388620" lvl="1">
                <a:lnSpc>
                  <a:spcPts val="5040"/>
                </a:lnSpc>
                <a:buFont typeface="Arial"/>
                <a:buChar char="•"/>
              </a:pPr>
              <a:r>
                <a:rPr lang="en-US" sz="3600">
                  <a:solidFill>
                    <a:srgbClr val="FFFFFF"/>
                  </a:solidFill>
                  <a:latin typeface="HK Grotesk"/>
                  <a:ea typeface="HK Grotesk"/>
                  <a:cs typeface="HK Grotesk"/>
                  <a:sym typeface="HK Grotesk"/>
                </a:rPr>
                <a:t>Achieved balanced performance across classes using CNN and augmentation.</a:t>
              </a:r>
            </a:p>
            <a:p>
              <a:pPr algn="just" marL="777240" indent="-388620" lvl="1">
                <a:lnSpc>
                  <a:spcPts val="5040"/>
                </a:lnSpc>
                <a:buFont typeface="Arial"/>
                <a:buChar char="•"/>
              </a:pPr>
              <a:r>
                <a:rPr lang="en-US" b="true" sz="3600">
                  <a:solidFill>
                    <a:srgbClr val="FFFFFF"/>
                  </a:solidFill>
                  <a:latin typeface="HK Grotesk Bold"/>
                  <a:ea typeface="HK Grotesk Bold"/>
                  <a:cs typeface="HK Grotesk Bold"/>
                  <a:sym typeface="HK Grotesk Bold"/>
                </a:rPr>
                <a:t>Future Work:</a:t>
              </a:r>
            </a:p>
            <a:p>
              <a:pPr algn="just" marL="1554480" indent="-518160" lvl="2">
                <a:lnSpc>
                  <a:spcPts val="5040"/>
                </a:lnSpc>
                <a:buFont typeface="Arial"/>
                <a:buChar char="⚬"/>
              </a:pPr>
              <a:r>
                <a:rPr lang="en-US" sz="3600">
                  <a:solidFill>
                    <a:srgbClr val="FFFFFF"/>
                  </a:solidFill>
                  <a:latin typeface="HK Grotesk"/>
                  <a:ea typeface="HK Grotesk"/>
                  <a:cs typeface="HK Grotesk"/>
                  <a:sym typeface="HK Grotesk"/>
                </a:rPr>
                <a:t>Add more data for weak classes</a:t>
              </a:r>
            </a:p>
            <a:p>
              <a:pPr algn="just" marL="1554480" indent="-518160" lvl="2">
                <a:lnSpc>
                  <a:spcPts val="5040"/>
                </a:lnSpc>
                <a:buFont typeface="Arial"/>
                <a:buChar char="⚬"/>
              </a:pPr>
              <a:r>
                <a:rPr lang="en-US" sz="3600">
                  <a:solidFill>
                    <a:srgbClr val="FFFFFF"/>
                  </a:solidFill>
                  <a:latin typeface="HK Grotesk"/>
                  <a:ea typeface="HK Grotesk"/>
                  <a:cs typeface="HK Grotesk"/>
                  <a:sym typeface="HK Grotesk"/>
                </a:rPr>
                <a:t>Use transfer learning for better accuracy</a:t>
              </a:r>
            </a:p>
            <a:p>
              <a:pPr algn="just" marL="1554480" indent="-518160" lvl="2">
                <a:lnSpc>
                  <a:spcPts val="5041"/>
                </a:lnSpc>
                <a:buFont typeface="Arial"/>
                <a:buChar char="⚬"/>
              </a:pPr>
              <a:r>
                <a:rPr lang="en-US" sz="3600">
                  <a:solidFill>
                    <a:srgbClr val="FFFFFF"/>
                  </a:solidFill>
                  <a:latin typeface="HK Grotesk"/>
                  <a:ea typeface="HK Grotesk"/>
                  <a:cs typeface="HK Grotesk"/>
                  <a:sym typeface="HK Grotesk"/>
                </a:rPr>
                <a:t>Add multi-language audio feedback</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5400000">
            <a:off x="5672854" y="-2328146"/>
            <a:ext cx="9258300" cy="13914591"/>
            <a:chOff x="0" y="0"/>
            <a:chExt cx="12344401" cy="18552788"/>
          </a:xfrm>
        </p:grpSpPr>
        <p:sp>
          <p:nvSpPr>
            <p:cNvPr name="Freeform 5" id="5"/>
            <p:cNvSpPr/>
            <p:nvPr/>
          </p:nvSpPr>
          <p:spPr>
            <a:xfrm flipH="false" flipV="true" rot="0">
              <a:off x="0" y="0"/>
              <a:ext cx="12344401" cy="18552798"/>
            </a:xfrm>
            <a:custGeom>
              <a:avLst/>
              <a:gdLst/>
              <a:ahLst/>
              <a:cxnLst/>
              <a:rect r="r" b="b" t="t" l="l"/>
              <a:pathLst>
                <a:path h="18552798" w="12344401">
                  <a:moveTo>
                    <a:pt x="0" y="18552798"/>
                  </a:moveTo>
                  <a:lnTo>
                    <a:pt x="12344401" y="18552798"/>
                  </a:lnTo>
                  <a:lnTo>
                    <a:pt x="12344401" y="0"/>
                  </a:lnTo>
                  <a:lnTo>
                    <a:pt x="0" y="0"/>
                  </a:lnTo>
                  <a:lnTo>
                    <a:pt x="0" y="18552798"/>
                  </a:lnTo>
                  <a:close/>
                </a:path>
              </a:pathLst>
            </a:custGeom>
            <a:blipFill>
              <a:blip r:embed="rId3"/>
              <a:stretch>
                <a:fillRect l="-3338" t="0" r="-3338" b="0"/>
              </a:stretch>
            </a:blipFill>
          </p:spPr>
        </p:sp>
      </p:grpSp>
      <p:grpSp>
        <p:nvGrpSpPr>
          <p:cNvPr name="Group 6" id="6"/>
          <p:cNvGrpSpPr/>
          <p:nvPr/>
        </p:nvGrpSpPr>
        <p:grpSpPr>
          <a:xfrm rot="0">
            <a:off x="5041674" y="956711"/>
            <a:ext cx="8204652" cy="1044320"/>
            <a:chOff x="0" y="0"/>
            <a:chExt cx="10939536" cy="1392427"/>
          </a:xfrm>
        </p:grpSpPr>
        <p:sp>
          <p:nvSpPr>
            <p:cNvPr name="Freeform 7" id="7"/>
            <p:cNvSpPr/>
            <p:nvPr/>
          </p:nvSpPr>
          <p:spPr>
            <a:xfrm flipH="false" flipV="false" rot="0">
              <a:off x="0" y="0"/>
              <a:ext cx="10939536" cy="1392427"/>
            </a:xfrm>
            <a:custGeom>
              <a:avLst/>
              <a:gdLst/>
              <a:ahLst/>
              <a:cxnLst/>
              <a:rect r="r" b="b" t="t" l="l"/>
              <a:pathLst>
                <a:path h="1392427" w="10939536">
                  <a:moveTo>
                    <a:pt x="0" y="0"/>
                  </a:moveTo>
                  <a:lnTo>
                    <a:pt x="10939536" y="0"/>
                  </a:lnTo>
                  <a:lnTo>
                    <a:pt x="10939536" y="1392427"/>
                  </a:lnTo>
                  <a:lnTo>
                    <a:pt x="0" y="1392427"/>
                  </a:lnTo>
                  <a:close/>
                </a:path>
              </a:pathLst>
            </a:custGeom>
            <a:solidFill>
              <a:srgbClr val="000000">
                <a:alpha val="0"/>
              </a:srgbClr>
            </a:solidFill>
          </p:spPr>
        </p:sp>
        <p:sp>
          <p:nvSpPr>
            <p:cNvPr name="TextBox 8" id="8"/>
            <p:cNvSpPr txBox="true"/>
            <p:nvPr/>
          </p:nvSpPr>
          <p:spPr>
            <a:xfrm>
              <a:off x="0" y="38100"/>
              <a:ext cx="10939536" cy="1354327"/>
            </a:xfrm>
            <a:prstGeom prst="rect">
              <a:avLst/>
            </a:prstGeom>
          </p:spPr>
          <p:txBody>
            <a:bodyPr anchor="t" rtlCol="false" tIns="0" lIns="0" bIns="0" rIns="0"/>
            <a:lstStyle/>
            <a:p>
              <a:pPr algn="just">
                <a:lnSpc>
                  <a:spcPts val="8038"/>
                </a:lnSpc>
              </a:pPr>
              <a:r>
                <a:rPr lang="en-US" sz="7113" b="true">
                  <a:solidFill>
                    <a:srgbClr val="FFFFFF"/>
                  </a:solidFill>
                  <a:latin typeface="Glacial Indifference Bold"/>
                  <a:ea typeface="Glacial Indifference Bold"/>
                  <a:cs typeface="Glacial Indifference Bold"/>
                  <a:sym typeface="Glacial Indifference Bold"/>
                </a:rPr>
                <a:t>REFERENCE PAPERS</a:t>
              </a:r>
            </a:p>
          </p:txBody>
        </p:sp>
      </p:grpSp>
      <p:grpSp>
        <p:nvGrpSpPr>
          <p:cNvPr name="Group 9" id="9"/>
          <p:cNvGrpSpPr/>
          <p:nvPr/>
        </p:nvGrpSpPr>
        <p:grpSpPr>
          <a:xfrm rot="0">
            <a:off x="4381722" y="2429564"/>
            <a:ext cx="12060249" cy="6308659"/>
            <a:chOff x="0" y="0"/>
            <a:chExt cx="16080332" cy="8411545"/>
          </a:xfrm>
        </p:grpSpPr>
        <p:sp>
          <p:nvSpPr>
            <p:cNvPr name="Freeform 10" id="10"/>
            <p:cNvSpPr/>
            <p:nvPr/>
          </p:nvSpPr>
          <p:spPr>
            <a:xfrm flipH="false" flipV="false" rot="0">
              <a:off x="0" y="0"/>
              <a:ext cx="16080332" cy="8411545"/>
            </a:xfrm>
            <a:custGeom>
              <a:avLst/>
              <a:gdLst/>
              <a:ahLst/>
              <a:cxnLst/>
              <a:rect r="r" b="b" t="t" l="l"/>
              <a:pathLst>
                <a:path h="8411545" w="16080332">
                  <a:moveTo>
                    <a:pt x="0" y="0"/>
                  </a:moveTo>
                  <a:lnTo>
                    <a:pt x="16080332" y="0"/>
                  </a:lnTo>
                  <a:lnTo>
                    <a:pt x="16080332" y="8411545"/>
                  </a:lnTo>
                  <a:lnTo>
                    <a:pt x="0" y="8411545"/>
                  </a:lnTo>
                  <a:close/>
                </a:path>
              </a:pathLst>
            </a:custGeom>
            <a:solidFill>
              <a:srgbClr val="000000">
                <a:alpha val="0"/>
              </a:srgbClr>
            </a:solidFill>
          </p:spPr>
        </p:sp>
        <p:sp>
          <p:nvSpPr>
            <p:cNvPr name="TextBox 11" id="11"/>
            <p:cNvSpPr txBox="true"/>
            <p:nvPr/>
          </p:nvSpPr>
          <p:spPr>
            <a:xfrm>
              <a:off x="0" y="-47625"/>
              <a:ext cx="16080332" cy="8459170"/>
            </a:xfrm>
            <a:prstGeom prst="rect">
              <a:avLst/>
            </a:prstGeom>
          </p:spPr>
          <p:txBody>
            <a:bodyPr anchor="t" rtlCol="false" tIns="0" lIns="0" bIns="0" rIns="0"/>
            <a:lstStyle/>
            <a:p>
              <a:pPr algn="l" marL="548516" indent="-182839" lvl="2">
                <a:lnSpc>
                  <a:spcPts val="3359"/>
                </a:lnSpc>
                <a:buAutoNum type="arabicPeriod" startAt="1"/>
              </a:pPr>
              <a:r>
                <a:rPr lang="en-US" sz="2399">
                  <a:solidFill>
                    <a:srgbClr val="FFFFFF"/>
                  </a:solidFill>
                  <a:latin typeface="HK Grotesk"/>
                  <a:ea typeface="HK Grotesk"/>
                  <a:cs typeface="HK Grotesk"/>
                  <a:sym typeface="HK Grotesk"/>
                </a:rPr>
                <a:t>EMOTION RECOGNITION BASED ON CONVOLUTIONAL NEURAL NETWORK (CNN)-2021</a:t>
              </a:r>
            </a:p>
            <a:p>
              <a:pPr algn="l" marL="548516" indent="-182839" lvl="2">
                <a:lnSpc>
                  <a:spcPts val="3359"/>
                </a:lnSpc>
                <a:buAutoNum type="arabicPeriod" startAt="1"/>
              </a:pPr>
              <a:r>
                <a:rPr lang="en-US" sz="2399">
                  <a:solidFill>
                    <a:srgbClr val="FFFFFF"/>
                  </a:solidFill>
                  <a:latin typeface="HK Grotesk"/>
                  <a:ea typeface="HK Grotesk"/>
                  <a:cs typeface="HK Grotesk"/>
                  <a:sym typeface="HK Grotesk"/>
                </a:rPr>
                <a:t>HUMAN EMOTION DETECTION USING OPEN CV - 2022</a:t>
              </a:r>
            </a:p>
            <a:p>
              <a:pPr algn="l" marL="525656" indent="-175219" lvl="2">
                <a:lnSpc>
                  <a:spcPts val="3219"/>
                </a:lnSpc>
                <a:buAutoNum type="arabicPeriod" startAt="1"/>
              </a:pPr>
              <a:r>
                <a:rPr lang="en-US" sz="2299">
                  <a:solidFill>
                    <a:srgbClr val="FFFFFF"/>
                  </a:solidFill>
                  <a:latin typeface="HK Grotesk"/>
                  <a:ea typeface="HK Grotesk"/>
                  <a:cs typeface="HK Grotesk"/>
                  <a:sym typeface="HK Grotesk"/>
                </a:rPr>
                <a:t> ARTIFICIAL INTELLIGENCE AND FACE EMOTION PREDICTION BASED TRAINING FOR AUTISM KIDS  -2022</a:t>
              </a:r>
            </a:p>
            <a:p>
              <a:pPr algn="l" marL="548516" indent="-182839" lvl="2">
                <a:lnSpc>
                  <a:spcPts val="3359"/>
                </a:lnSpc>
                <a:buAutoNum type="arabicPeriod" startAt="1"/>
              </a:pPr>
              <a:r>
                <a:rPr lang="en-US" sz="2399">
                  <a:solidFill>
                    <a:srgbClr val="FFFFFF"/>
                  </a:solidFill>
                  <a:latin typeface="HK Grotesk"/>
                  <a:ea typeface="HK Grotesk"/>
                  <a:cs typeface="HK Grotesk"/>
                  <a:sym typeface="HK Grotesk"/>
                </a:rPr>
                <a:t>EMOTION RECOGNITION IN IMAGES AND VIDEO WITH PYTHON FOR AUTISM ASSESSMENT-2024</a:t>
              </a:r>
            </a:p>
            <a:p>
              <a:pPr algn="l" marL="548516" indent="-182839" lvl="2">
                <a:lnSpc>
                  <a:spcPts val="3359"/>
                </a:lnSpc>
                <a:buAutoNum type="arabicPeriod" startAt="1"/>
              </a:pPr>
              <a:r>
                <a:rPr lang="en-US" sz="2399">
                  <a:solidFill>
                    <a:srgbClr val="FFFFFF"/>
                  </a:solidFill>
                  <a:latin typeface="HK Grotesk"/>
                  <a:ea typeface="HK Grotesk"/>
                  <a:cs typeface="HK Grotesk"/>
                  <a:sym typeface="HK Grotesk"/>
                </a:rPr>
                <a:t>REAL TIME EMOTION RECOGNITION USING IMAGE CLASSIFICATION - 2023</a:t>
              </a:r>
            </a:p>
            <a:p>
              <a:pPr algn="l" marL="548516" indent="-182839" lvl="2">
                <a:lnSpc>
                  <a:spcPts val="3359"/>
                </a:lnSpc>
                <a:buAutoNum type="arabicPeriod" startAt="1"/>
              </a:pPr>
              <a:r>
                <a:rPr lang="en-US" sz="2399">
                  <a:solidFill>
                    <a:srgbClr val="FFFFFF"/>
                  </a:solidFill>
                  <a:latin typeface="HK Grotesk"/>
                  <a:ea typeface="HK Grotesk"/>
                  <a:cs typeface="HK Grotesk"/>
                  <a:sym typeface="HK Grotesk"/>
                </a:rPr>
                <a:t>OPENCV AND PYTHON FOR EMOTION ANALYSIS OF FACE EXPRESSIONS-2023</a:t>
              </a:r>
            </a:p>
            <a:p>
              <a:pPr algn="l" marL="548516" indent="-182839" lvl="2">
                <a:lnSpc>
                  <a:spcPts val="3359"/>
                </a:lnSpc>
                <a:buAutoNum type="arabicPeriod" startAt="1"/>
              </a:pPr>
              <a:r>
                <a:rPr lang="en-US" sz="2399">
                  <a:solidFill>
                    <a:srgbClr val="FFFFFF"/>
                  </a:solidFill>
                  <a:latin typeface="HK Grotesk"/>
                  <a:ea typeface="HK Grotesk"/>
                  <a:cs typeface="HK Grotesk"/>
                  <a:sym typeface="HK Grotesk"/>
                </a:rPr>
                <a:t>AI AND FACE EMOTION PREDICTION BASED TRAINING FOR AUTISM KIDS-2020</a:t>
              </a:r>
            </a:p>
            <a:p>
              <a:pPr algn="l" marL="548516" indent="-182839" lvl="2">
                <a:lnSpc>
                  <a:spcPts val="3359"/>
                </a:lnSpc>
                <a:buAutoNum type="arabicPeriod" startAt="1"/>
              </a:pPr>
              <a:r>
                <a:rPr lang="en-US" sz="2399">
                  <a:solidFill>
                    <a:srgbClr val="FFFFFF"/>
                  </a:solidFill>
                  <a:latin typeface="HK Grotesk"/>
                  <a:ea typeface="HK Grotesk"/>
                  <a:cs typeface="HK Grotesk"/>
                  <a:sym typeface="HK Grotesk"/>
                </a:rPr>
                <a:t>MACHINE LEARNING AND DEEP LEARNING TECHNIQUES FOR EXPRESSION BASED FACIAL RECOGNITION-2023</a:t>
              </a:r>
            </a:p>
            <a:p>
              <a:pPr algn="l" marL="548516" indent="-182839" lvl="2">
                <a:lnSpc>
                  <a:spcPts val="3359"/>
                </a:lnSpc>
                <a:buAutoNum type="arabicPeriod" startAt="1"/>
              </a:pPr>
              <a:r>
                <a:rPr lang="en-US" sz="2399">
                  <a:solidFill>
                    <a:srgbClr val="FFFFFF"/>
                  </a:solidFill>
                  <a:latin typeface="HK Grotesk"/>
                  <a:ea typeface="HK Grotesk"/>
                  <a:cs typeface="HK Grotesk"/>
                  <a:sym typeface="HK Grotesk"/>
                </a:rPr>
                <a:t>IMPROVED OPTIMIZER WITH DL MODEL FOR EMOTION DETECTION-2024</a:t>
              </a:r>
            </a:p>
            <a:p>
              <a:pPr algn="l" marL="548516" indent="-182839" lvl="2">
                <a:lnSpc>
                  <a:spcPts val="3359"/>
                </a:lnSpc>
                <a:buAutoNum type="arabicPeriod" startAt="1"/>
              </a:pPr>
              <a:r>
                <a:rPr lang="en-US" sz="2399">
                  <a:solidFill>
                    <a:srgbClr val="FFFFFF"/>
                  </a:solidFill>
                  <a:latin typeface="HK Grotesk"/>
                  <a:ea typeface="HK Grotesk"/>
                  <a:cs typeface="HK Grotesk"/>
                  <a:sym typeface="HK Grotesk"/>
                </a:rPr>
                <a:t>EXPLORING DIFFERENT TECHNIQUES FOR EMOTION DETECTION THROUGH FACE RECOGNITION-2023</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true" flipV="false" rot="0">
              <a:off x="0" y="0"/>
              <a:ext cx="24384000" cy="13716000"/>
            </a:xfrm>
            <a:custGeom>
              <a:avLst/>
              <a:gdLst/>
              <a:ahLst/>
              <a:cxnLst/>
              <a:rect r="r" b="b" t="t" l="l"/>
              <a:pathLst>
                <a:path h="13716000" w="24384000">
                  <a:moveTo>
                    <a:pt x="24384000" y="0"/>
                  </a:moveTo>
                  <a:lnTo>
                    <a:pt x="0" y="0"/>
                  </a:lnTo>
                  <a:lnTo>
                    <a:pt x="0" y="13716000"/>
                  </a:lnTo>
                  <a:lnTo>
                    <a:pt x="24384000" y="13716000"/>
                  </a:lnTo>
                  <a:lnTo>
                    <a:pt x="24384000" y="0"/>
                  </a:lnTo>
                  <a:close/>
                </a:path>
              </a:pathLst>
            </a:custGeom>
            <a:blipFill>
              <a:blip r:embed="rId2"/>
              <a:stretch>
                <a:fillRect l="0" t="0" r="0" b="0"/>
              </a:stretch>
            </a:blipFill>
          </p:spPr>
        </p:sp>
      </p:grpSp>
      <p:grpSp>
        <p:nvGrpSpPr>
          <p:cNvPr name="Group 4" id="4"/>
          <p:cNvGrpSpPr/>
          <p:nvPr/>
        </p:nvGrpSpPr>
        <p:grpSpPr>
          <a:xfrm rot="0">
            <a:off x="1559745" y="659943"/>
            <a:ext cx="15991568" cy="8940214"/>
            <a:chOff x="0" y="0"/>
            <a:chExt cx="28509420" cy="15938420"/>
          </a:xfrm>
        </p:grpSpPr>
        <p:sp>
          <p:nvSpPr>
            <p:cNvPr name="Freeform 5" id="5"/>
            <p:cNvSpPr/>
            <p:nvPr/>
          </p:nvSpPr>
          <p:spPr>
            <a:xfrm flipH="false" flipV="false" rot="0">
              <a:off x="0" y="0"/>
              <a:ext cx="28509330" cy="15938393"/>
            </a:xfrm>
            <a:custGeom>
              <a:avLst/>
              <a:gdLst/>
              <a:ahLst/>
              <a:cxnLst/>
              <a:rect r="r" b="b" t="t" l="l"/>
              <a:pathLst>
                <a:path h="15938393" w="28509330">
                  <a:moveTo>
                    <a:pt x="0" y="0"/>
                  </a:moveTo>
                  <a:lnTo>
                    <a:pt x="28509330" y="0"/>
                  </a:lnTo>
                  <a:lnTo>
                    <a:pt x="28509330" y="15938393"/>
                  </a:lnTo>
                  <a:lnTo>
                    <a:pt x="0" y="15938393"/>
                  </a:lnTo>
                  <a:lnTo>
                    <a:pt x="0" y="0"/>
                  </a:lnTo>
                  <a:close/>
                </a:path>
              </a:pathLst>
            </a:custGeom>
            <a:blipFill>
              <a:blip r:embed="rId3"/>
              <a:stretch>
                <a:fillRect l="0" t="-76003" r="0" b="-76004"/>
              </a:stretch>
            </a:blipFill>
          </p:spPr>
        </p:sp>
      </p:grpSp>
      <p:grpSp>
        <p:nvGrpSpPr>
          <p:cNvPr name="Group 6" id="6"/>
          <p:cNvGrpSpPr/>
          <p:nvPr/>
        </p:nvGrpSpPr>
        <p:grpSpPr>
          <a:xfrm rot="0">
            <a:off x="4651632" y="4171798"/>
            <a:ext cx="8984736" cy="1451033"/>
            <a:chOff x="0" y="0"/>
            <a:chExt cx="11979648" cy="1934711"/>
          </a:xfrm>
        </p:grpSpPr>
        <p:sp>
          <p:nvSpPr>
            <p:cNvPr name="Freeform 7" id="7"/>
            <p:cNvSpPr/>
            <p:nvPr/>
          </p:nvSpPr>
          <p:spPr>
            <a:xfrm flipH="false" flipV="false" rot="0">
              <a:off x="0" y="0"/>
              <a:ext cx="11979648" cy="1934711"/>
            </a:xfrm>
            <a:custGeom>
              <a:avLst/>
              <a:gdLst/>
              <a:ahLst/>
              <a:cxnLst/>
              <a:rect r="r" b="b" t="t" l="l"/>
              <a:pathLst>
                <a:path h="1934711" w="11979648">
                  <a:moveTo>
                    <a:pt x="0" y="0"/>
                  </a:moveTo>
                  <a:lnTo>
                    <a:pt x="11979648" y="0"/>
                  </a:lnTo>
                  <a:lnTo>
                    <a:pt x="11979648" y="1934711"/>
                  </a:lnTo>
                  <a:lnTo>
                    <a:pt x="0" y="1934711"/>
                  </a:lnTo>
                  <a:close/>
                </a:path>
              </a:pathLst>
            </a:custGeom>
            <a:solidFill>
              <a:srgbClr val="000000">
                <a:alpha val="0"/>
              </a:srgbClr>
            </a:solidFill>
          </p:spPr>
        </p:sp>
        <p:sp>
          <p:nvSpPr>
            <p:cNvPr name="TextBox 8" id="8"/>
            <p:cNvSpPr txBox="true"/>
            <p:nvPr/>
          </p:nvSpPr>
          <p:spPr>
            <a:xfrm>
              <a:off x="0" y="66675"/>
              <a:ext cx="11979648" cy="1868036"/>
            </a:xfrm>
            <a:prstGeom prst="rect">
              <a:avLst/>
            </a:prstGeom>
          </p:spPr>
          <p:txBody>
            <a:bodyPr anchor="t" rtlCol="false" tIns="0" lIns="0" bIns="0" rIns="0"/>
            <a:lstStyle/>
            <a:p>
              <a:pPr algn="ctr">
                <a:lnSpc>
                  <a:spcPts val="11307"/>
                </a:lnSpc>
              </a:pPr>
              <a:r>
                <a:rPr lang="en-US" sz="10006" b="true">
                  <a:solidFill>
                    <a:srgbClr val="FFFFFF"/>
                  </a:solidFill>
                  <a:latin typeface="Glacial Indifference Bold"/>
                  <a:ea typeface="Glacial Indifference Bold"/>
                  <a:cs typeface="Glacial Indifference Bold"/>
                  <a:sym typeface="Glacial Indifference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DAGklLXOjtk</dc:identifier>
  <dcterms:modified xsi:type="dcterms:W3CDTF">2011-08-01T06:04:30Z</dcterms:modified>
  <cp:revision>1</cp:revision>
  <dc:title>FinalReview</dc:title>
</cp:coreProperties>
</file>