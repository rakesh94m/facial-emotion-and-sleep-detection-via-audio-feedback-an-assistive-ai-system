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T Octosquares Compressed" charset="1" panose="02010001040000080307"/>
      <p:regular r:id="rId21"/>
    </p:embeddedFont>
    <p:embeddedFont>
      <p:font typeface="HK Grotesk Italics" charset="1" panose="00000500000000000000"/>
      <p:regular r:id="rId22"/>
    </p:embeddedFont>
    <p:embeddedFont>
      <p:font typeface="Roboto" charset="1" panose="02000000000000000000"/>
      <p:regular r:id="rId23"/>
    </p:embeddedFont>
    <p:embeddedFont>
      <p:font typeface="Open Sans Bold" charset="1" panose="00000000000000000000"/>
      <p:regular r:id="rId24"/>
    </p:embeddedFont>
    <p:embeddedFont>
      <p:font typeface="Open Sans" charset="1" panose="00000000000000000000"/>
      <p:regular r:id="rId25"/>
    </p:embeddedFont>
    <p:embeddedFont>
      <p:font typeface="Canva Sans" charset="1" panose="020B0503030501040103"/>
      <p:regular r:id="rId26"/>
    </p:embeddedFont>
    <p:embeddedFont>
      <p:font typeface="Canva Sans Bold" charset="1" panose="020B08030305010401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540242"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966929" y="4641553"/>
            <a:ext cx="10652293" cy="1035679"/>
          </a:xfrm>
          <a:prstGeom prst="rect">
            <a:avLst/>
          </a:prstGeom>
        </p:spPr>
        <p:txBody>
          <a:bodyPr anchor="t" rtlCol="false" tIns="0" lIns="0" bIns="0" rIns="0">
            <a:spAutoFit/>
          </a:bodyPr>
          <a:lstStyle/>
          <a:p>
            <a:pPr algn="ctr">
              <a:lnSpc>
                <a:spcPts val="8540"/>
              </a:lnSpc>
              <a:spcBef>
                <a:spcPct val="0"/>
              </a:spcBef>
            </a:pPr>
            <a:r>
              <a:rPr lang="en-US" sz="6100">
                <a:solidFill>
                  <a:srgbClr val="FFFFFF"/>
                </a:solidFill>
                <a:latin typeface="TT Octosquares Compressed"/>
                <a:ea typeface="TT Octosquares Compressed"/>
                <a:cs typeface="TT Octosquares Compressed"/>
                <a:sym typeface="TT Octosquares Compressed"/>
              </a:rPr>
              <a:t>FACIAL EMOTION RECOGNITION</a:t>
            </a:r>
          </a:p>
        </p:txBody>
      </p:sp>
      <p:sp>
        <p:nvSpPr>
          <p:cNvPr name="Freeform 9" id="9"/>
          <p:cNvSpPr/>
          <p:nvPr/>
        </p:nvSpPr>
        <p:spPr>
          <a:xfrm flipH="false" flipV="false" rot="0">
            <a:off x="1681488"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5612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10800000">
            <a:off x="14733522"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10800000">
            <a:off x="1571977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10800000">
            <a:off x="16694995" y="4650573"/>
            <a:ext cx="629715" cy="985855"/>
          </a:xfrm>
          <a:custGeom>
            <a:avLst/>
            <a:gdLst/>
            <a:ahLst/>
            <a:cxnLst/>
            <a:rect r="r" b="b" t="t" l="l"/>
            <a:pathLst>
              <a:path h="985855" w="629715">
                <a:moveTo>
                  <a:pt x="0" y="0"/>
                </a:moveTo>
                <a:lnTo>
                  <a:pt x="629715" y="0"/>
                </a:lnTo>
                <a:lnTo>
                  <a:pt x="629715" y="985854"/>
                </a:lnTo>
                <a:lnTo>
                  <a:pt x="0" y="985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5057476" y="6838684"/>
            <a:ext cx="8471198" cy="2124075"/>
          </a:xfrm>
          <a:prstGeom prst="rect">
            <a:avLst/>
          </a:prstGeom>
        </p:spPr>
        <p:txBody>
          <a:bodyPr anchor="t" rtlCol="false" tIns="0" lIns="0" bIns="0" rIns="0">
            <a:spAutoFit/>
          </a:bodyPr>
          <a:lstStyle/>
          <a:p>
            <a:pPr algn="ctr">
              <a:lnSpc>
                <a:spcPts val="4200"/>
              </a:lnSpc>
            </a:pPr>
            <a:r>
              <a:rPr lang="en-US" sz="3000" i="true">
                <a:solidFill>
                  <a:srgbClr val="FFFFFF"/>
                </a:solidFill>
                <a:latin typeface="HK Grotesk Italics"/>
                <a:ea typeface="HK Grotesk Italics"/>
                <a:cs typeface="HK Grotesk Italics"/>
                <a:sym typeface="HK Grotesk Italics"/>
              </a:rPr>
              <a:t>M JAYESH - CB.SC.U4AIE24128</a:t>
            </a:r>
          </a:p>
          <a:p>
            <a:pPr algn="ctr">
              <a:lnSpc>
                <a:spcPts val="4200"/>
              </a:lnSpc>
            </a:pPr>
            <a:r>
              <a:rPr lang="en-US" sz="3000" i="true">
                <a:solidFill>
                  <a:srgbClr val="FFFFFF"/>
                </a:solidFill>
                <a:latin typeface="HK Grotesk Italics"/>
                <a:ea typeface="HK Grotesk Italics"/>
                <a:cs typeface="HK Grotesk Italics"/>
                <a:sym typeface="HK Grotesk Italics"/>
              </a:rPr>
              <a:t>M RAKESH - CB.SC.U4AIE24134</a:t>
            </a:r>
          </a:p>
          <a:p>
            <a:pPr algn="ctr">
              <a:lnSpc>
                <a:spcPts val="4200"/>
              </a:lnSpc>
            </a:pPr>
            <a:r>
              <a:rPr lang="en-US" sz="3000" i="true">
                <a:solidFill>
                  <a:srgbClr val="FFFFFF"/>
                </a:solidFill>
                <a:latin typeface="HK Grotesk Italics"/>
                <a:ea typeface="HK Grotesk Italics"/>
                <a:cs typeface="HK Grotesk Italics"/>
                <a:sym typeface="HK Grotesk Italics"/>
              </a:rPr>
              <a:t>CH VIRINCHI SAI - CB.SC.U4AIE24158</a:t>
            </a:r>
          </a:p>
          <a:p>
            <a:pPr algn="ctr">
              <a:lnSpc>
                <a:spcPts val="4200"/>
              </a:lnSpc>
              <a:spcBef>
                <a:spcPct val="0"/>
              </a:spcBef>
            </a:pPr>
            <a:r>
              <a:rPr lang="en-US" sz="3000" i="true">
                <a:solidFill>
                  <a:srgbClr val="FFFFFF"/>
                </a:solidFill>
                <a:latin typeface="HK Grotesk Italics"/>
                <a:ea typeface="HK Grotesk Italics"/>
                <a:cs typeface="HK Grotesk Italics"/>
                <a:sym typeface="HK Grotesk Italics"/>
              </a:rPr>
              <a:t>K JATIN CHANDRA GUPTA - CB.SC.U4AIE24162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0390797" y="1149661"/>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746156" y="1149661"/>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101515" y="1149661"/>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9349085" y="3345399"/>
            <a:ext cx="8545789" cy="5524408"/>
            <a:chOff x="0" y="0"/>
            <a:chExt cx="11287133" cy="7296544"/>
          </a:xfrm>
        </p:grpSpPr>
        <p:sp>
          <p:nvSpPr>
            <p:cNvPr name="Freeform 11" id="11"/>
            <p:cNvSpPr/>
            <p:nvPr/>
          </p:nvSpPr>
          <p:spPr>
            <a:xfrm flipH="false" flipV="false" rot="0">
              <a:off x="0" y="0"/>
              <a:ext cx="11287133" cy="7296545"/>
            </a:xfrm>
            <a:custGeom>
              <a:avLst/>
              <a:gdLst/>
              <a:ahLst/>
              <a:cxnLst/>
              <a:rect r="r" b="b" t="t" l="l"/>
              <a:pathLst>
                <a:path h="7296545" w="11287133">
                  <a:moveTo>
                    <a:pt x="0" y="0"/>
                  </a:moveTo>
                  <a:lnTo>
                    <a:pt x="11287133" y="0"/>
                  </a:lnTo>
                  <a:lnTo>
                    <a:pt x="11287133" y="7296545"/>
                  </a:lnTo>
                  <a:lnTo>
                    <a:pt x="0" y="7296545"/>
                  </a:lnTo>
                  <a:close/>
                </a:path>
              </a:pathLst>
            </a:custGeom>
            <a:solidFill>
              <a:srgbClr val="000000">
                <a:alpha val="0"/>
              </a:srgbClr>
            </a:solidFill>
          </p:spPr>
        </p:sp>
        <p:sp>
          <p:nvSpPr>
            <p:cNvPr name="TextBox 12" id="12"/>
            <p:cNvSpPr txBox="true"/>
            <p:nvPr/>
          </p:nvSpPr>
          <p:spPr>
            <a:xfrm>
              <a:off x="0" y="-133350"/>
              <a:ext cx="11287133" cy="7429894"/>
            </a:xfrm>
            <a:prstGeom prst="rect">
              <a:avLst/>
            </a:prstGeom>
          </p:spPr>
          <p:txBody>
            <a:bodyPr anchor="t" rtlCol="false" tIns="0" lIns="0" bIns="0" rIns="0"/>
            <a:lstStyle/>
            <a:p>
              <a:pPr algn="l">
                <a:lnSpc>
                  <a:spcPts val="4865"/>
                </a:lnSpc>
              </a:pPr>
              <a:r>
                <a:rPr lang="en-US" sz="2987">
                  <a:solidFill>
                    <a:srgbClr val="D6E5EF"/>
                  </a:solidFill>
                  <a:latin typeface="Roboto"/>
                  <a:ea typeface="Roboto"/>
                  <a:cs typeface="Roboto"/>
                  <a:sym typeface="Roboto"/>
                </a:rPr>
                <a:t>Facial Emotion Recognition (FER) is a computer vision technique that identifies human emotions based on facial expressions. By training on labeled datasets, the model learns to classify emotions such as happy, sad, angry, and more. This project focuses on building a CNN-based model to accurately detect 8 emotions, including sleep, for applications in healthcare, security, and drowsiness detection.</a:t>
              </a:r>
            </a:p>
          </p:txBody>
        </p:sp>
      </p:grpSp>
      <p:grpSp>
        <p:nvGrpSpPr>
          <p:cNvPr name="Group 13" id="13"/>
          <p:cNvGrpSpPr/>
          <p:nvPr/>
        </p:nvGrpSpPr>
        <p:grpSpPr>
          <a:xfrm rot="0">
            <a:off x="1028700" y="2241327"/>
            <a:ext cx="7618849" cy="6867100"/>
            <a:chOff x="0" y="0"/>
            <a:chExt cx="11893075" cy="10719589"/>
          </a:xfrm>
        </p:grpSpPr>
        <p:sp>
          <p:nvSpPr>
            <p:cNvPr name="Freeform 14" id="14"/>
            <p:cNvSpPr/>
            <p:nvPr/>
          </p:nvSpPr>
          <p:spPr>
            <a:xfrm flipH="false" flipV="false" rot="0">
              <a:off x="0" y="0"/>
              <a:ext cx="11893042" cy="10719550"/>
            </a:xfrm>
            <a:custGeom>
              <a:avLst/>
              <a:gdLst/>
              <a:ahLst/>
              <a:cxnLst/>
              <a:rect r="r" b="b" t="t" l="l"/>
              <a:pathLst>
                <a:path h="10719550" w="11893042">
                  <a:moveTo>
                    <a:pt x="0" y="0"/>
                  </a:moveTo>
                  <a:lnTo>
                    <a:pt x="11893042" y="0"/>
                  </a:lnTo>
                  <a:lnTo>
                    <a:pt x="11893042" y="10719550"/>
                  </a:lnTo>
                  <a:lnTo>
                    <a:pt x="0" y="10719550"/>
                  </a:lnTo>
                  <a:lnTo>
                    <a:pt x="0" y="0"/>
                  </a:lnTo>
                  <a:close/>
                </a:path>
              </a:pathLst>
            </a:custGeom>
            <a:blipFill>
              <a:blip r:embed="rId7"/>
              <a:stretch>
                <a:fillRect l="-1357" t="0" r="-1357" b="0"/>
              </a:stretch>
            </a:blipFill>
          </p:spPr>
        </p:sp>
      </p:grpSp>
      <p:sp>
        <p:nvSpPr>
          <p:cNvPr name="TextBox 15" id="15"/>
          <p:cNvSpPr txBox="true"/>
          <p:nvPr/>
        </p:nvSpPr>
        <p:spPr>
          <a:xfrm rot="0">
            <a:off x="9349085" y="1850308"/>
            <a:ext cx="5096158" cy="1348840"/>
          </a:xfrm>
          <a:prstGeom prst="rect">
            <a:avLst/>
          </a:prstGeom>
        </p:spPr>
        <p:txBody>
          <a:bodyPr anchor="t" rtlCol="false" tIns="0" lIns="0" bIns="0" rIns="0">
            <a:spAutoFit/>
          </a:bodyPr>
          <a:lstStyle/>
          <a:p>
            <a:pPr algn="l">
              <a:lnSpc>
                <a:spcPts val="11026"/>
              </a:lnSpc>
              <a:spcBef>
                <a:spcPct val="0"/>
              </a:spcBef>
            </a:pPr>
            <a:r>
              <a:rPr lang="en-US" sz="7875">
                <a:solidFill>
                  <a:srgbClr val="FFFFFF"/>
                </a:solidFill>
                <a:latin typeface="TT Octosquares Compressed"/>
                <a:ea typeface="TT Octosquares Compressed"/>
                <a:cs typeface="TT Octosquares Compressed"/>
                <a:sym typeface="TT Octosquares Compresse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3707897" y="2259588"/>
            <a:ext cx="4770406" cy="1175431"/>
          </a:xfrm>
          <a:prstGeom prst="rect">
            <a:avLst/>
          </a:prstGeom>
        </p:spPr>
        <p:txBody>
          <a:bodyPr anchor="t" rtlCol="false" tIns="0" lIns="0" bIns="0" rIns="0">
            <a:spAutoFit/>
          </a:bodyPr>
          <a:lstStyle/>
          <a:p>
            <a:pPr algn="l">
              <a:lnSpc>
                <a:spcPts val="8817"/>
              </a:lnSpc>
            </a:pPr>
            <a:r>
              <a:rPr lang="en-US" sz="8560">
                <a:solidFill>
                  <a:srgbClr val="FFFFFF"/>
                </a:solidFill>
                <a:latin typeface="TT Octosquares Compressed"/>
                <a:ea typeface="TT Octosquares Compressed"/>
                <a:cs typeface="TT Octosquares Compressed"/>
                <a:sym typeface="TT Octosquares Compressed"/>
              </a:rPr>
              <a:t>OBJECTIVES</a:t>
            </a:r>
          </a:p>
        </p:txBody>
      </p:sp>
      <p:sp>
        <p:nvSpPr>
          <p:cNvPr name="Freeform 8" id="8"/>
          <p:cNvSpPr/>
          <p:nvPr/>
        </p:nvSpPr>
        <p:spPr>
          <a:xfrm flipH="false" flipV="false" rot="0">
            <a:off x="1850798" y="2399296"/>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31591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78103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039108" y="4465749"/>
            <a:ext cx="677751" cy="67775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4" id="14"/>
          <p:cNvSpPr txBox="true"/>
          <p:nvPr/>
        </p:nvSpPr>
        <p:spPr>
          <a:xfrm rot="0">
            <a:off x="1836384" y="4410339"/>
            <a:ext cx="7399896" cy="1970233"/>
          </a:xfrm>
          <a:prstGeom prst="rect">
            <a:avLst/>
          </a:prstGeom>
        </p:spPr>
        <p:txBody>
          <a:bodyPr anchor="t" rtlCol="false" tIns="0" lIns="0" bIns="0" rIns="0">
            <a:spAutoFit/>
          </a:bodyPr>
          <a:lstStyle/>
          <a:p>
            <a:pPr algn="l">
              <a:lnSpc>
                <a:spcPts val="3378"/>
              </a:lnSpc>
            </a:pPr>
            <a:r>
              <a:rPr lang="en-US" sz="2413" b="true">
                <a:solidFill>
                  <a:srgbClr val="FFFFFF"/>
                </a:solidFill>
                <a:latin typeface="Open Sans Bold"/>
                <a:ea typeface="Open Sans Bold"/>
                <a:cs typeface="Open Sans Bold"/>
                <a:sym typeface="Open Sans Bold"/>
              </a:rPr>
              <a:t>      To Develop a Deep Learning: </a:t>
            </a:r>
          </a:p>
          <a:p>
            <a:pPr algn="l" marL="474979" indent="-237490" lvl="1">
              <a:lnSpc>
                <a:spcPts val="3079"/>
              </a:lnSpc>
              <a:spcBef>
                <a:spcPct val="0"/>
              </a:spcBef>
              <a:buFont typeface="Arial"/>
              <a:buChar char="•"/>
            </a:pPr>
            <a:r>
              <a:rPr lang="en-US" sz="2199">
                <a:solidFill>
                  <a:srgbClr val="FFFFFF"/>
                </a:solidFill>
                <a:latin typeface="Open Sans"/>
                <a:ea typeface="Open Sans"/>
                <a:cs typeface="Open Sans"/>
                <a:sym typeface="Open Sans"/>
              </a:rPr>
              <a:t>Build a CNN model capable of accurately classifying facial expressions</a:t>
            </a:r>
            <a:r>
              <a:rPr lang="en-US" sz="2199">
                <a:solidFill>
                  <a:srgbClr val="FFFFFF"/>
                </a:solidFill>
                <a:latin typeface="Open Sans"/>
                <a:ea typeface="Open Sans"/>
                <a:cs typeface="Open Sans"/>
                <a:sym typeface="Open Sans"/>
              </a:rPr>
              <a:t> into 8 emotion categories: Angry, Disgust, Fear, Happy, Neutral, Sad, Sleep, and Surprise.</a:t>
            </a:r>
          </a:p>
        </p:txBody>
      </p:sp>
      <p:sp>
        <p:nvSpPr>
          <p:cNvPr name="TextBox 15" id="15"/>
          <p:cNvSpPr txBox="true"/>
          <p:nvPr/>
        </p:nvSpPr>
        <p:spPr>
          <a:xfrm rot="0">
            <a:off x="1129928" y="46417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1</a:t>
            </a:r>
          </a:p>
        </p:txBody>
      </p:sp>
      <p:grpSp>
        <p:nvGrpSpPr>
          <p:cNvPr name="Group 16" id="16"/>
          <p:cNvGrpSpPr/>
          <p:nvPr/>
        </p:nvGrpSpPr>
        <p:grpSpPr>
          <a:xfrm rot="0">
            <a:off x="9960180" y="4465749"/>
            <a:ext cx="677751" cy="67775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18" id="1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9" id="19"/>
          <p:cNvSpPr txBox="true"/>
          <p:nvPr/>
        </p:nvSpPr>
        <p:spPr>
          <a:xfrm rot="0">
            <a:off x="11273539" y="4427649"/>
            <a:ext cx="6621336" cy="1579708"/>
          </a:xfrm>
          <a:prstGeom prst="rect">
            <a:avLst/>
          </a:prstGeom>
        </p:spPr>
        <p:txBody>
          <a:bodyPr anchor="t" rtlCol="false" tIns="0" lIns="0" bIns="0" rIns="0">
            <a:spAutoFit/>
          </a:bodyPr>
          <a:lstStyle/>
          <a:p>
            <a:pPr algn="l">
              <a:lnSpc>
                <a:spcPts val="3378"/>
              </a:lnSpc>
            </a:pPr>
            <a:r>
              <a:rPr lang="en-US" sz="2413" b="true">
                <a:solidFill>
                  <a:srgbClr val="FFFFFF"/>
                </a:solidFill>
                <a:latin typeface="Open Sans Bold"/>
                <a:ea typeface="Open Sans Bold"/>
                <a:cs typeface="Open Sans Bold"/>
                <a:sym typeface="Open Sans Bold"/>
              </a:rPr>
              <a:t>     Enhance Emotion R</a:t>
            </a:r>
            <a:r>
              <a:rPr lang="en-US" sz="2413" b="true">
                <a:solidFill>
                  <a:srgbClr val="FFFFFF"/>
                </a:solidFill>
                <a:latin typeface="Open Sans Bold"/>
                <a:ea typeface="Open Sans Bold"/>
                <a:cs typeface="Open Sans Bold"/>
                <a:sym typeface="Open Sans Bold"/>
              </a:rPr>
              <a:t>ecognition Accuracy:</a:t>
            </a:r>
          </a:p>
          <a:p>
            <a:pPr algn="l" marL="474979" indent="-237490" lvl="1">
              <a:lnSpc>
                <a:spcPts val="3079"/>
              </a:lnSpc>
              <a:spcBef>
                <a:spcPct val="0"/>
              </a:spcBef>
              <a:buFont typeface="Arial"/>
              <a:buChar char="•"/>
            </a:pPr>
            <a:r>
              <a:rPr lang="en-US" sz="2199">
                <a:solidFill>
                  <a:srgbClr val="FFFFFF"/>
                </a:solidFill>
                <a:latin typeface="Open Sans"/>
                <a:ea typeface="Open Sans"/>
                <a:cs typeface="Open Sans"/>
                <a:sym typeface="Open Sans"/>
              </a:rPr>
              <a:t>Implement data augmentation and optimization techniques to improve classification performance.</a:t>
            </a:r>
          </a:p>
        </p:txBody>
      </p:sp>
      <p:sp>
        <p:nvSpPr>
          <p:cNvPr name="TextBox 20" id="20"/>
          <p:cNvSpPr txBox="true"/>
          <p:nvPr/>
        </p:nvSpPr>
        <p:spPr>
          <a:xfrm rot="0">
            <a:off x="10051000" y="46417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2</a:t>
            </a:r>
          </a:p>
        </p:txBody>
      </p:sp>
      <p:grpSp>
        <p:nvGrpSpPr>
          <p:cNvPr name="Group 21" id="21"/>
          <p:cNvGrpSpPr/>
          <p:nvPr/>
        </p:nvGrpSpPr>
        <p:grpSpPr>
          <a:xfrm rot="0">
            <a:off x="5769876" y="7656326"/>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6904089" y="7688072"/>
            <a:ext cx="6112182" cy="1570228"/>
          </a:xfrm>
          <a:prstGeom prst="rect">
            <a:avLst/>
          </a:prstGeom>
        </p:spPr>
        <p:txBody>
          <a:bodyPr anchor="t" rtlCol="false" tIns="0" lIns="0" bIns="0" rIns="0">
            <a:spAutoFit/>
          </a:bodyPr>
          <a:lstStyle/>
          <a:p>
            <a:pPr algn="l">
              <a:lnSpc>
                <a:spcPts val="3373"/>
              </a:lnSpc>
            </a:pPr>
            <a:r>
              <a:rPr lang="en-US" sz="2409" b="true">
                <a:solidFill>
                  <a:srgbClr val="FFFFFF"/>
                </a:solidFill>
                <a:latin typeface="Open Sans Bold"/>
                <a:ea typeface="Open Sans Bold"/>
                <a:cs typeface="Open Sans Bold"/>
                <a:sym typeface="Open Sans Bold"/>
              </a:rPr>
              <a:t>   Integrate Sleep Detection:</a:t>
            </a:r>
          </a:p>
          <a:p>
            <a:pPr algn="l" marL="474979" indent="-237490" lvl="1">
              <a:lnSpc>
                <a:spcPts val="3079"/>
              </a:lnSpc>
              <a:spcBef>
                <a:spcPct val="0"/>
              </a:spcBef>
              <a:buFont typeface="Arial"/>
              <a:buChar char="•"/>
            </a:pPr>
            <a:r>
              <a:rPr lang="en-US" sz="2199">
                <a:solidFill>
                  <a:srgbClr val="FFFFFF"/>
                </a:solidFill>
                <a:latin typeface="Open Sans"/>
                <a:ea typeface="Open Sans"/>
                <a:cs typeface="Open Sans"/>
                <a:sym typeface="Open Sans"/>
              </a:rPr>
              <a:t>Introduce a ‘Sleep’ class to detect drowsiness in real-time.</a:t>
            </a:r>
          </a:p>
          <a:p>
            <a:pPr algn="l">
              <a:lnSpc>
                <a:spcPts val="3079"/>
              </a:lnSpc>
              <a:spcBef>
                <a:spcPct val="0"/>
              </a:spcBef>
            </a:pPr>
          </a:p>
        </p:txBody>
      </p:sp>
      <p:sp>
        <p:nvSpPr>
          <p:cNvPr name="TextBox 25" id="25"/>
          <p:cNvSpPr txBox="true"/>
          <p:nvPr/>
        </p:nvSpPr>
        <p:spPr>
          <a:xfrm rot="0">
            <a:off x="5860696" y="783232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673341" y="1753284"/>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39108" y="1753284"/>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03992" y="1753284"/>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759162" y="6979825"/>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02</a:t>
            </a:r>
          </a:p>
        </p:txBody>
      </p:sp>
      <p:sp>
        <p:nvSpPr>
          <p:cNvPr name="TextBox 11" id="11"/>
          <p:cNvSpPr txBox="true"/>
          <p:nvPr/>
        </p:nvSpPr>
        <p:spPr>
          <a:xfrm rot="0">
            <a:off x="673341" y="3065913"/>
            <a:ext cx="16866175" cy="6367255"/>
          </a:xfrm>
          <a:prstGeom prst="rect">
            <a:avLst/>
          </a:prstGeom>
        </p:spPr>
        <p:txBody>
          <a:bodyPr anchor="t" rtlCol="false" tIns="0" lIns="0" bIns="0" rIns="0">
            <a:spAutoFit/>
          </a:bodyPr>
          <a:lstStyle/>
          <a:p>
            <a:pPr algn="l">
              <a:lnSpc>
                <a:spcPts val="3945"/>
              </a:lnSpc>
            </a:pPr>
            <a:r>
              <a:rPr lang="en-US" sz="2818">
                <a:solidFill>
                  <a:srgbClr val="FFFFFF"/>
                </a:solidFill>
                <a:latin typeface="Canva Sans"/>
                <a:ea typeface="Canva Sans"/>
                <a:cs typeface="Canva Sans"/>
                <a:sym typeface="Canva Sans"/>
              </a:rPr>
              <a:t>Problem Statement:</a:t>
            </a:r>
          </a:p>
          <a:p>
            <a:pPr algn="l" marL="608510" indent="-304255" lvl="1">
              <a:lnSpc>
                <a:spcPts val="3945"/>
              </a:lnSpc>
              <a:spcBef>
                <a:spcPct val="0"/>
              </a:spcBef>
              <a:buFont typeface="Arial"/>
              <a:buChar char="•"/>
            </a:pPr>
            <a:r>
              <a:rPr lang="en-US" sz="2818">
                <a:solidFill>
                  <a:srgbClr val="FFFFFF"/>
                </a:solidFill>
                <a:latin typeface="Canva Sans"/>
                <a:ea typeface="Canva Sans"/>
                <a:cs typeface="Canva Sans"/>
                <a:sym typeface="Canva Sans"/>
              </a:rPr>
              <a:t>Facial emotion recognition is crucial for applications like assistive technology for the visually impaired and driver drowsiness detection. This project aims to develop a CNN-based model to classify emotions, including a ‘Sleep’ class, for enhanced real-time monitoring and safety applications.</a:t>
            </a:r>
          </a:p>
          <a:p>
            <a:pPr algn="l">
              <a:lnSpc>
                <a:spcPts val="3945"/>
              </a:lnSpc>
              <a:spcBef>
                <a:spcPct val="0"/>
              </a:spcBef>
            </a:pPr>
            <a:r>
              <a:rPr lang="en-US" sz="2818">
                <a:solidFill>
                  <a:srgbClr val="FFFFFF"/>
                </a:solidFill>
                <a:latin typeface="Canva Sans"/>
                <a:ea typeface="Canva Sans"/>
                <a:cs typeface="Canva Sans"/>
                <a:sym typeface="Canva Sans"/>
              </a:rPr>
              <a:t>Why Deep Learning?</a:t>
            </a:r>
          </a:p>
          <a:p>
            <a:pPr algn="l" marL="1217019" indent="-405673" lvl="2">
              <a:lnSpc>
                <a:spcPts val="3945"/>
              </a:lnSpc>
              <a:spcBef>
                <a:spcPct val="0"/>
              </a:spcBef>
              <a:buFont typeface="Arial"/>
              <a:buChar char="⚬"/>
            </a:pPr>
            <a:r>
              <a:rPr lang="en-US" sz="2818">
                <a:solidFill>
                  <a:srgbClr val="FFFFFF"/>
                </a:solidFill>
                <a:latin typeface="Canva Sans"/>
                <a:ea typeface="Canva Sans"/>
                <a:cs typeface="Canva Sans"/>
                <a:sym typeface="Canva Sans"/>
              </a:rPr>
              <a:t>Deep Learning, particularly CNNs, is the best approach for facial emotion recognition due to its high accuracy. </a:t>
            </a:r>
          </a:p>
          <a:p>
            <a:pPr algn="l" marL="1217019" indent="-405673" lvl="2">
              <a:lnSpc>
                <a:spcPts val="3945"/>
              </a:lnSpc>
              <a:spcBef>
                <a:spcPct val="0"/>
              </a:spcBef>
              <a:buFont typeface="Arial"/>
              <a:buChar char="⚬"/>
            </a:pPr>
            <a:r>
              <a:rPr lang="en-US" sz="2818">
                <a:solidFill>
                  <a:srgbClr val="FFFFFF"/>
                </a:solidFill>
                <a:latin typeface="Canva Sans"/>
                <a:ea typeface="Canva Sans"/>
                <a:cs typeface="Canva Sans"/>
                <a:sym typeface="Canva Sans"/>
              </a:rPr>
              <a:t>Automatically extracts relevant features from raw image data.</a:t>
            </a:r>
          </a:p>
          <a:p>
            <a:pPr algn="l" marL="1217019" indent="-405673" lvl="2">
              <a:lnSpc>
                <a:spcPts val="3945"/>
              </a:lnSpc>
              <a:spcBef>
                <a:spcPct val="0"/>
              </a:spcBef>
              <a:buFont typeface="Arial"/>
              <a:buChar char="⚬"/>
            </a:pPr>
            <a:r>
              <a:rPr lang="en-US" sz="2818">
                <a:solidFill>
                  <a:srgbClr val="FFFFFF"/>
                </a:solidFill>
                <a:latin typeface="Canva Sans"/>
                <a:ea typeface="Canva Sans"/>
                <a:cs typeface="Canva Sans"/>
                <a:sym typeface="Canva Sans"/>
              </a:rPr>
              <a:t>Handles Large Datasets Efficiently</a:t>
            </a:r>
          </a:p>
          <a:p>
            <a:pPr algn="l" marL="1217019" indent="-405673" lvl="2">
              <a:lnSpc>
                <a:spcPts val="3945"/>
              </a:lnSpc>
              <a:spcBef>
                <a:spcPct val="0"/>
              </a:spcBef>
              <a:buFont typeface="Arial"/>
              <a:buChar char="⚬"/>
            </a:pPr>
            <a:r>
              <a:rPr lang="en-US" sz="2818">
                <a:solidFill>
                  <a:srgbClr val="FFFFFF"/>
                </a:solidFill>
                <a:latin typeface="Canva Sans"/>
                <a:ea typeface="Canva Sans"/>
                <a:cs typeface="Canva Sans"/>
                <a:sym typeface="Canva Sans"/>
              </a:rPr>
              <a:t>Supports real-time applications and deployment.</a:t>
            </a:r>
          </a:p>
          <a:p>
            <a:pPr algn="l">
              <a:lnSpc>
                <a:spcPts val="3945"/>
              </a:lnSpc>
              <a:spcBef>
                <a:spcPct val="0"/>
              </a:spcBef>
            </a:pPr>
          </a:p>
          <a:p>
            <a:pPr algn="l">
              <a:lnSpc>
                <a:spcPts val="394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METHODOLOGY OVERVIEW</a:t>
            </a:r>
          </a:p>
        </p:txBody>
      </p:sp>
      <p:sp>
        <p:nvSpPr>
          <p:cNvPr name="TextBox 8" id="8"/>
          <p:cNvSpPr txBox="true"/>
          <p:nvPr/>
        </p:nvSpPr>
        <p:spPr>
          <a:xfrm rot="0">
            <a:off x="1395283" y="1807381"/>
            <a:ext cx="13282643" cy="6386092"/>
          </a:xfrm>
          <a:prstGeom prst="rect">
            <a:avLst/>
          </a:prstGeom>
        </p:spPr>
        <p:txBody>
          <a:bodyPr anchor="t" rtlCol="false" tIns="0" lIns="0" bIns="0" rIns="0">
            <a:spAutoFit/>
          </a:bodyPr>
          <a:lstStyle/>
          <a:p>
            <a:pPr algn="l">
              <a:lnSpc>
                <a:spcPts val="7251"/>
              </a:lnSpc>
            </a:pPr>
            <a:r>
              <a:rPr lang="en-US" sz="5179">
                <a:solidFill>
                  <a:srgbClr val="FFFFFF"/>
                </a:solidFill>
                <a:latin typeface="Canva Sans"/>
                <a:ea typeface="Canva Sans"/>
                <a:cs typeface="Canva Sans"/>
                <a:sym typeface="Canva Sans"/>
              </a:rPr>
              <a:t>Step 1: Data Collection and Preprocessing</a:t>
            </a:r>
          </a:p>
          <a:p>
            <a:pPr algn="l">
              <a:lnSpc>
                <a:spcPts val="7251"/>
              </a:lnSpc>
              <a:spcBef>
                <a:spcPct val="0"/>
              </a:spcBef>
            </a:pPr>
            <a:r>
              <a:rPr lang="en-US" sz="5179">
                <a:solidFill>
                  <a:srgbClr val="FFFFFF"/>
                </a:solidFill>
                <a:latin typeface="Canva Sans"/>
                <a:ea typeface="Canva Sans"/>
                <a:cs typeface="Canva Sans"/>
                <a:sym typeface="Canva Sans"/>
              </a:rPr>
              <a:t>Step 2: M</a:t>
            </a:r>
            <a:r>
              <a:rPr lang="en-US" sz="5179">
                <a:solidFill>
                  <a:srgbClr val="FFFFFF"/>
                </a:solidFill>
                <a:latin typeface="Canva Sans"/>
                <a:ea typeface="Canva Sans"/>
                <a:cs typeface="Canva Sans"/>
                <a:sym typeface="Canva Sans"/>
              </a:rPr>
              <a:t>odel Architecture Design</a:t>
            </a:r>
          </a:p>
          <a:p>
            <a:pPr algn="l">
              <a:lnSpc>
                <a:spcPts val="7251"/>
              </a:lnSpc>
              <a:spcBef>
                <a:spcPct val="0"/>
              </a:spcBef>
            </a:pPr>
            <a:r>
              <a:rPr lang="en-US" sz="5179">
                <a:solidFill>
                  <a:srgbClr val="FFFFFF"/>
                </a:solidFill>
                <a:latin typeface="Canva Sans"/>
                <a:ea typeface="Canva Sans"/>
                <a:cs typeface="Canva Sans"/>
                <a:sym typeface="Canva Sans"/>
              </a:rPr>
              <a:t>Step 3: Model Compilation and Training</a:t>
            </a:r>
          </a:p>
          <a:p>
            <a:pPr algn="l">
              <a:lnSpc>
                <a:spcPts val="7251"/>
              </a:lnSpc>
              <a:spcBef>
                <a:spcPct val="0"/>
              </a:spcBef>
            </a:pPr>
            <a:r>
              <a:rPr lang="en-US" sz="5179">
                <a:solidFill>
                  <a:srgbClr val="FFFFFF"/>
                </a:solidFill>
                <a:latin typeface="Canva Sans"/>
                <a:ea typeface="Canva Sans"/>
                <a:cs typeface="Canva Sans"/>
                <a:sym typeface="Canva Sans"/>
              </a:rPr>
              <a:t>Step 4: Model Evaluation</a:t>
            </a:r>
          </a:p>
          <a:p>
            <a:pPr algn="l">
              <a:lnSpc>
                <a:spcPts val="7251"/>
              </a:lnSpc>
              <a:spcBef>
                <a:spcPct val="0"/>
              </a:spcBef>
            </a:pPr>
            <a:r>
              <a:rPr lang="en-US" sz="5179">
                <a:solidFill>
                  <a:srgbClr val="FFFFFF"/>
                </a:solidFill>
                <a:latin typeface="Canva Sans"/>
                <a:ea typeface="Canva Sans"/>
                <a:cs typeface="Canva Sans"/>
                <a:sym typeface="Canva Sans"/>
              </a:rPr>
              <a:t>Step 5: Visualization and Analysis</a:t>
            </a:r>
          </a:p>
          <a:p>
            <a:pPr algn="l">
              <a:lnSpc>
                <a:spcPts val="7251"/>
              </a:lnSpc>
              <a:spcBef>
                <a:spcPct val="0"/>
              </a:spcBef>
            </a:pPr>
            <a:r>
              <a:rPr lang="en-US" sz="5179">
                <a:solidFill>
                  <a:srgbClr val="FFFFFF"/>
                </a:solidFill>
                <a:latin typeface="Canva Sans"/>
                <a:ea typeface="Canva Sans"/>
                <a:cs typeface="Canva Sans"/>
                <a:sym typeface="Canva Sans"/>
              </a:rPr>
              <a:t>Step 6: Model Saving and Deployment</a:t>
            </a:r>
          </a:p>
          <a:p>
            <a:pPr algn="l">
              <a:lnSpc>
                <a:spcPts val="7251"/>
              </a:lnSpc>
              <a:spcBef>
                <a:spcPct val="0"/>
              </a:spcBef>
            </a:pPr>
            <a:r>
              <a:rPr lang="en-US" sz="5179">
                <a:solidFill>
                  <a:srgbClr val="FFFFFF"/>
                </a:solidFill>
                <a:latin typeface="Canva Sans"/>
                <a:ea typeface="Canva Sans"/>
                <a:cs typeface="Canva Sans"/>
                <a:sym typeface="Canva Sans"/>
              </a:rPr>
              <a:t>Step 7: Real-Time Testing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DATA PREPROCESSING</a:t>
            </a:r>
          </a:p>
        </p:txBody>
      </p:sp>
      <p:sp>
        <p:nvSpPr>
          <p:cNvPr name="TextBox 8" id="8"/>
          <p:cNvSpPr txBox="true"/>
          <p:nvPr/>
        </p:nvSpPr>
        <p:spPr>
          <a:xfrm rot="0">
            <a:off x="1395283" y="1603239"/>
            <a:ext cx="16892717" cy="6913245"/>
          </a:xfrm>
          <a:prstGeom prst="rect">
            <a:avLst/>
          </a:prstGeom>
        </p:spPr>
        <p:txBody>
          <a:bodyPr anchor="t" rtlCol="false" tIns="0" lIns="0" bIns="0" rIns="0">
            <a:spAutoFit/>
          </a:bodyPr>
          <a:lstStyle/>
          <a:p>
            <a:pPr algn="l">
              <a:lnSpc>
                <a:spcPts val="4200"/>
              </a:lnSpc>
            </a:pPr>
            <a:r>
              <a:rPr lang="en-US" sz="3000" b="true">
                <a:solidFill>
                  <a:srgbClr val="FFFFFF"/>
                </a:solidFill>
                <a:latin typeface="Canva Sans Bold"/>
                <a:ea typeface="Canva Sans Bold"/>
                <a:cs typeface="Canva Sans Bold"/>
                <a:sym typeface="Canva Sans Bold"/>
              </a:rPr>
              <a:t>Data Augmentation</a:t>
            </a:r>
          </a:p>
          <a:p>
            <a:pPr algn="l"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To improve model generalization and prevent overfitting, we apply data augmentation using ImageDataGenerator in TensorFlow.</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Rescaling: Normalize pixel values to [0, 1].</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Rotation: Simulates different face angles.</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Shear Transformation: Slightly distorts images.</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Zooming: Creates variations in image size </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Horizontal Flip: Mirroring images.</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Fill Mode: Fills gaps created by transformations.</a:t>
            </a:r>
          </a:p>
          <a:p>
            <a:pPr algn="l">
              <a:lnSpc>
                <a:spcPts val="3359"/>
              </a:lnSpc>
            </a:pPr>
          </a:p>
          <a:p>
            <a:pPr algn="l">
              <a:lnSpc>
                <a:spcPts val="4199"/>
              </a:lnSpc>
            </a:pPr>
            <a:r>
              <a:rPr lang="en-US" sz="2999" b="true">
                <a:solidFill>
                  <a:srgbClr val="FFFFFF"/>
                </a:solidFill>
                <a:latin typeface="Canva Sans Bold"/>
                <a:ea typeface="Canva Sans Bold"/>
                <a:cs typeface="Canva Sans Bold"/>
                <a:sym typeface="Canva Sans Bold"/>
              </a:rPr>
              <a:t>Data Loading</a:t>
            </a:r>
          </a:p>
          <a:p>
            <a:pPr algn="l" marL="518160" indent="-259080" lvl="1">
              <a:lnSpc>
                <a:spcPts val="3359"/>
              </a:lnSpc>
              <a:buFont typeface="Arial"/>
              <a:buChar char="•"/>
            </a:pPr>
            <a:r>
              <a:rPr lang="en-US" sz="2400">
                <a:solidFill>
                  <a:srgbClr val="FFFFFF"/>
                </a:solidFill>
                <a:latin typeface="Canva Sans"/>
                <a:ea typeface="Canva Sans"/>
                <a:cs typeface="Canva Sans"/>
                <a:sym typeface="Canva Sans"/>
              </a:rPr>
              <a:t>Training Data:</a:t>
            </a:r>
          </a:p>
          <a:p>
            <a:pPr algn="l" marL="1036320" indent="-345440" lvl="2">
              <a:lnSpc>
                <a:spcPts val="3359"/>
              </a:lnSpc>
              <a:buFont typeface="Arial"/>
              <a:buChar char="⚬"/>
            </a:pPr>
            <a:r>
              <a:rPr lang="en-US" sz="2400">
                <a:solidFill>
                  <a:srgbClr val="FFFFFF"/>
                </a:solidFill>
                <a:latin typeface="Canva Sans"/>
                <a:ea typeface="Canva Sans"/>
                <a:cs typeface="Canva Sans"/>
                <a:sym typeface="Canva Sans"/>
              </a:rPr>
              <a:t>Convert images to grayscale (48×48) for uniformity.</a:t>
            </a:r>
          </a:p>
          <a:p>
            <a:pPr algn="l" marL="518160" indent="-259080" lvl="1">
              <a:lnSpc>
                <a:spcPts val="3359"/>
              </a:lnSpc>
              <a:buFont typeface="Arial"/>
              <a:buChar char="•"/>
            </a:pPr>
            <a:r>
              <a:rPr lang="en-US" sz="2400">
                <a:solidFill>
                  <a:srgbClr val="FFFFFF"/>
                </a:solidFill>
                <a:latin typeface="Canva Sans"/>
                <a:ea typeface="Canva Sans"/>
                <a:cs typeface="Canva Sans"/>
                <a:sym typeface="Canva Sans"/>
              </a:rPr>
              <a:t>Validation Data:</a:t>
            </a:r>
          </a:p>
          <a:p>
            <a:pPr algn="l" marL="1036320" indent="-345440" lvl="2">
              <a:lnSpc>
                <a:spcPts val="3359"/>
              </a:lnSpc>
              <a:spcBef>
                <a:spcPct val="0"/>
              </a:spcBef>
              <a:buFont typeface="Arial"/>
              <a:buChar char="⚬"/>
            </a:pPr>
            <a:r>
              <a:rPr lang="en-US" sz="2400">
                <a:solidFill>
                  <a:srgbClr val="FFFFFF"/>
                </a:solidFill>
                <a:latin typeface="Canva Sans"/>
                <a:ea typeface="Canva Sans"/>
                <a:cs typeface="Canva Sans"/>
                <a:sym typeface="Canva Sans"/>
              </a:rPr>
              <a:t>Loaded with the same preprocessing as training data, but without augmentation, ensuring it remains unaltered for unbiased evaluation.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MODEL ARCHITECTURE</a:t>
            </a:r>
          </a:p>
        </p:txBody>
      </p:sp>
      <p:sp>
        <p:nvSpPr>
          <p:cNvPr name="TextBox 8" id="8"/>
          <p:cNvSpPr txBox="true"/>
          <p:nvPr/>
        </p:nvSpPr>
        <p:spPr>
          <a:xfrm rot="0">
            <a:off x="1155385" y="1472172"/>
            <a:ext cx="12593079" cy="8230699"/>
          </a:xfrm>
          <a:prstGeom prst="rect">
            <a:avLst/>
          </a:prstGeom>
        </p:spPr>
        <p:txBody>
          <a:bodyPr anchor="t" rtlCol="false" tIns="0" lIns="0" bIns="0" rIns="0">
            <a:spAutoFit/>
          </a:bodyPr>
          <a:lstStyle/>
          <a:p>
            <a:pPr algn="l" marL="486792" indent="-243396" lvl="1">
              <a:lnSpc>
                <a:spcPts val="3156"/>
              </a:lnSpc>
              <a:buAutoNum type="arabicPeriod" startAt="1"/>
            </a:pPr>
            <a:r>
              <a:rPr lang="en-US" b="true" sz="2254">
                <a:solidFill>
                  <a:srgbClr val="FFFFFF"/>
                </a:solidFill>
                <a:latin typeface="Canva Sans Bold"/>
                <a:ea typeface="Canva Sans Bold"/>
                <a:cs typeface="Canva Sans Bold"/>
                <a:sym typeface="Canva Sans Bold"/>
              </a:rPr>
              <a:t>Input Layer</a:t>
            </a:r>
          </a:p>
          <a:p>
            <a:pPr algn="l" marL="973584" indent="-324528" lvl="2">
              <a:lnSpc>
                <a:spcPts val="3156"/>
              </a:lnSpc>
              <a:buFont typeface="Arial"/>
              <a:buChar char="⚬"/>
            </a:pPr>
            <a:r>
              <a:rPr lang="en-US" b="true" sz="2254">
                <a:solidFill>
                  <a:srgbClr val="FFFFFF"/>
                </a:solidFill>
                <a:latin typeface="Canva Sans Bold"/>
                <a:ea typeface="Canva Sans Bold"/>
                <a:cs typeface="Canva Sans Bold"/>
                <a:sym typeface="Canva Sans Bold"/>
              </a:rPr>
              <a:t>Accepts 48×48 grayscale images (input_shape=(48,48,1))</a:t>
            </a:r>
          </a:p>
          <a:p>
            <a:pPr algn="l" marL="486792" indent="-243396" lvl="1">
              <a:lnSpc>
                <a:spcPts val="3156"/>
              </a:lnSpc>
              <a:buAutoNum type="arabicPeriod" startAt="1"/>
            </a:pPr>
            <a:r>
              <a:rPr lang="en-US" b="true" sz="2254">
                <a:solidFill>
                  <a:srgbClr val="FFFFFF"/>
                </a:solidFill>
                <a:latin typeface="Canva Sans Bold"/>
                <a:ea typeface="Canva Sans Bold"/>
                <a:cs typeface="Canva Sans Bold"/>
                <a:sym typeface="Canva Sans Bold"/>
              </a:rPr>
              <a:t>Convolution &amp; Pooling Layers</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Conv2D(32, 3×3, ReLU) → Extracts low-level features</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Conv2D(64, 3×3, ReLU) → Detects patterns</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MaxPooling2D(2×2) → Reduces spatial size</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Dropout(0.1) → Prevents overfitting</a:t>
            </a:r>
          </a:p>
          <a:p>
            <a:pPr algn="l" marL="486792" indent="-243396" lvl="1">
              <a:lnSpc>
                <a:spcPts val="3156"/>
              </a:lnSpc>
              <a:buAutoNum type="arabicPeriod" startAt="1"/>
            </a:pPr>
            <a:r>
              <a:rPr lang="en-US" b="true" sz="2254">
                <a:solidFill>
                  <a:srgbClr val="FFFFFF"/>
                </a:solidFill>
                <a:latin typeface="Canva Sans Bold"/>
                <a:ea typeface="Canva Sans Bold"/>
                <a:cs typeface="Canva Sans Bold"/>
                <a:sym typeface="Canva Sans Bold"/>
              </a:rPr>
              <a:t>Deeper Feature Extraction</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Conv2D(128, 3×3, ReLU) → Captures complex patterns</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MaxPooling2D(2×2)</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Dropout(0.1)</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Conv2D(256, 3×3, ReLU) → Further deep feature learning</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MaxPooling2D(2×2)</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Dropout(0.1)</a:t>
            </a:r>
          </a:p>
          <a:p>
            <a:pPr algn="l" marL="486792" indent="-243396" lvl="1">
              <a:lnSpc>
                <a:spcPts val="3156"/>
              </a:lnSpc>
              <a:buAutoNum type="arabicPeriod" startAt="1"/>
            </a:pPr>
            <a:r>
              <a:rPr lang="en-US" b="true" sz="2254">
                <a:solidFill>
                  <a:srgbClr val="FFFFFF"/>
                </a:solidFill>
                <a:latin typeface="Canva Sans Bold"/>
                <a:ea typeface="Canva Sans Bold"/>
                <a:cs typeface="Canva Sans Bold"/>
                <a:sym typeface="Canva Sans Bold"/>
              </a:rPr>
              <a:t> </a:t>
            </a:r>
            <a:r>
              <a:rPr lang="en-US" b="true" sz="2254">
                <a:solidFill>
                  <a:srgbClr val="FFFFFF"/>
                </a:solidFill>
                <a:latin typeface="Canva Sans Bold"/>
                <a:ea typeface="Canva Sans Bold"/>
                <a:cs typeface="Canva Sans Bold"/>
                <a:sym typeface="Canva Sans Bold"/>
              </a:rPr>
              <a:t>Fully Connected Layers</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Flatten() → Converts feature maps into a 1D vector</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Dense(512, ReLU) → High-level feature learning</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Dropout(0.2)</a:t>
            </a:r>
          </a:p>
          <a:p>
            <a:pPr algn="l" marL="486792" indent="-243396" lvl="1">
              <a:lnSpc>
                <a:spcPts val="3156"/>
              </a:lnSpc>
              <a:buAutoNum type="arabicPeriod" startAt="1"/>
            </a:pPr>
            <a:r>
              <a:rPr lang="en-US" b="true" sz="2254">
                <a:solidFill>
                  <a:srgbClr val="FFFFFF"/>
                </a:solidFill>
                <a:latin typeface="Canva Sans Bold"/>
                <a:ea typeface="Canva Sans Bold"/>
                <a:cs typeface="Canva Sans Bold"/>
                <a:sym typeface="Canva Sans Bold"/>
              </a:rPr>
              <a:t> </a:t>
            </a:r>
            <a:r>
              <a:rPr lang="en-US" b="true" sz="2254">
                <a:solidFill>
                  <a:srgbClr val="FFFFFF"/>
                </a:solidFill>
                <a:latin typeface="Canva Sans Bold"/>
                <a:ea typeface="Canva Sans Bold"/>
                <a:cs typeface="Canva Sans Bold"/>
                <a:sym typeface="Canva Sans Bold"/>
              </a:rPr>
              <a:t>Output Layer</a:t>
            </a:r>
          </a:p>
          <a:p>
            <a:pPr algn="l" marL="973584" indent="-324528" lvl="2">
              <a:lnSpc>
                <a:spcPts val="3156"/>
              </a:lnSpc>
              <a:buFont typeface="Arial"/>
              <a:buChar char="⚬"/>
            </a:pPr>
            <a:r>
              <a:rPr lang="en-US" sz="2254">
                <a:solidFill>
                  <a:srgbClr val="FFFFFF"/>
                </a:solidFill>
                <a:latin typeface="Canva Sans"/>
                <a:ea typeface="Canva Sans"/>
                <a:cs typeface="Canva Sans"/>
                <a:sym typeface="Canva Sans"/>
              </a:rPr>
              <a:t>Dense(8, Softmax) → Classifies emotions into 8 categories</a:t>
            </a:r>
          </a:p>
          <a:p>
            <a:pPr algn="l">
              <a:lnSpc>
                <a:spcPts val="218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MODEL TRAINING</a:t>
            </a:r>
          </a:p>
        </p:txBody>
      </p:sp>
      <p:sp>
        <p:nvSpPr>
          <p:cNvPr name="TextBox 8" id="8"/>
          <p:cNvSpPr txBox="true"/>
          <p:nvPr/>
        </p:nvSpPr>
        <p:spPr>
          <a:xfrm rot="0">
            <a:off x="674118" y="2102761"/>
            <a:ext cx="16537781" cy="6028272"/>
          </a:xfrm>
          <a:prstGeom prst="rect">
            <a:avLst/>
          </a:prstGeom>
        </p:spPr>
        <p:txBody>
          <a:bodyPr anchor="t" rtlCol="false" tIns="0" lIns="0" bIns="0" rIns="0">
            <a:spAutoFit/>
          </a:bodyPr>
          <a:lstStyle/>
          <a:p>
            <a:pPr algn="l">
              <a:lnSpc>
                <a:spcPts val="4678"/>
              </a:lnSpc>
            </a:pPr>
            <a:r>
              <a:rPr lang="en-US" sz="3341" b="true">
                <a:solidFill>
                  <a:srgbClr val="FFFFFF"/>
                </a:solidFill>
                <a:latin typeface="Canva Sans Bold"/>
                <a:ea typeface="Canva Sans Bold"/>
                <a:cs typeface="Canva Sans Bold"/>
                <a:sym typeface="Canva Sans Bold"/>
              </a:rPr>
              <a:t>Training Process</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Data Loading → Load augmented training data and unaltered validation data.</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Forward Propagation → Images pass through CNN layers to extract features.</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Loss Calculation → Model computes error using categorical crossentropy.</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Backward Propagation → Weights update using Adam optimizer to minimize loss.</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Callbacks:</a:t>
            </a:r>
          </a:p>
          <a:p>
            <a:pPr algn="l" marL="1183759" indent="-394586" lvl="2">
              <a:lnSpc>
                <a:spcPts val="3838"/>
              </a:lnSpc>
              <a:buFont typeface="Arial"/>
              <a:buChar char="⚬"/>
            </a:pPr>
            <a:r>
              <a:rPr lang="en-US" sz="2741">
                <a:solidFill>
                  <a:srgbClr val="FFFFFF"/>
                </a:solidFill>
                <a:latin typeface="Canva Sans"/>
                <a:ea typeface="Canva Sans"/>
                <a:cs typeface="Canva Sans"/>
                <a:sym typeface="Canva Sans"/>
              </a:rPr>
              <a:t>EarlyStopping: Monitors validation loss and stops training if no improvement for 10 epochs.</a:t>
            </a:r>
          </a:p>
          <a:p>
            <a:pPr algn="l" marL="1183759" indent="-394586" lvl="2">
              <a:lnSpc>
                <a:spcPts val="3838"/>
              </a:lnSpc>
              <a:buFont typeface="Arial"/>
              <a:buChar char="⚬"/>
            </a:pPr>
            <a:r>
              <a:rPr lang="en-US" sz="2741">
                <a:solidFill>
                  <a:srgbClr val="FFFFFF"/>
                </a:solidFill>
                <a:latin typeface="Canva Sans"/>
                <a:ea typeface="Canva Sans"/>
                <a:cs typeface="Canva Sans"/>
                <a:sym typeface="Canva Sans"/>
              </a:rPr>
              <a:t>ModelCheckpoint: Saves the best model based on validation accuracy.</a:t>
            </a:r>
          </a:p>
          <a:p>
            <a:pPr algn="l">
              <a:lnSpc>
                <a:spcPts val="4678"/>
              </a:lnSpc>
            </a:pPr>
            <a:r>
              <a:rPr lang="en-US" sz="3341" b="true">
                <a:solidFill>
                  <a:srgbClr val="FFFFFF"/>
                </a:solidFill>
                <a:latin typeface="Canva Sans Bold"/>
                <a:ea typeface="Canva Sans Bold"/>
                <a:cs typeface="Canva Sans Bold"/>
                <a:sym typeface="Canva Sans Bold"/>
              </a:rPr>
              <a:t>Model Evaluation</a:t>
            </a:r>
          </a:p>
          <a:p>
            <a:pPr algn="l">
              <a:lnSpc>
                <a:spcPts val="3838"/>
              </a:lnSpc>
            </a:pPr>
            <a:r>
              <a:rPr lang="en-US" sz="2741">
                <a:solidFill>
                  <a:srgbClr val="FFFFFF"/>
                </a:solidFill>
                <a:latin typeface="Canva Sans"/>
                <a:ea typeface="Canva Sans"/>
                <a:cs typeface="Canva Sans"/>
                <a:sym typeface="Canva Sans"/>
              </a:rPr>
              <a:t>    </a:t>
            </a:r>
            <a:r>
              <a:rPr lang="en-US" sz="2741">
                <a:solidFill>
                  <a:srgbClr val="FFFFFF"/>
                </a:solidFill>
                <a:latin typeface="Canva Sans"/>
                <a:ea typeface="Canva Sans"/>
                <a:cs typeface="Canva Sans"/>
                <a:sym typeface="Canva Sans"/>
              </a:rPr>
              <a:t>Evaluation Metrics</a:t>
            </a:r>
          </a:p>
          <a:p>
            <a:pPr algn="l" marL="591880" indent="-295940" lvl="1">
              <a:lnSpc>
                <a:spcPts val="3838"/>
              </a:lnSpc>
              <a:buFont typeface="Arial"/>
              <a:buChar char="•"/>
            </a:pPr>
            <a:r>
              <a:rPr lang="en-US" sz="2741">
                <a:solidFill>
                  <a:srgbClr val="FFFFFF"/>
                </a:solidFill>
                <a:latin typeface="Canva Sans"/>
                <a:ea typeface="Canva Sans"/>
                <a:cs typeface="Canva Sans"/>
                <a:sym typeface="Canva Sans"/>
              </a:rPr>
              <a:t>Validation Loss: Measures model performance on unseen data.</a:t>
            </a:r>
          </a:p>
          <a:p>
            <a:pPr algn="l" marL="591880" indent="-295940" lvl="1">
              <a:lnSpc>
                <a:spcPts val="3838"/>
              </a:lnSpc>
              <a:spcBef>
                <a:spcPct val="0"/>
              </a:spcBef>
              <a:buFont typeface="Arial"/>
              <a:buChar char="•"/>
            </a:pPr>
            <a:r>
              <a:rPr lang="en-US" sz="2741">
                <a:solidFill>
                  <a:srgbClr val="FFFFFF"/>
                </a:solidFill>
                <a:latin typeface="Canva Sans"/>
                <a:ea typeface="Canva Sans"/>
                <a:cs typeface="Canva Sans"/>
                <a:sym typeface="Canva Sans"/>
              </a:rPr>
              <a:t>Validation Accuracy: Percentage of correctly classified validation images.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245040" y="3512597"/>
            <a:ext cx="8371601" cy="5891514"/>
          </a:xfrm>
          <a:custGeom>
            <a:avLst/>
            <a:gdLst/>
            <a:ahLst/>
            <a:cxnLst/>
            <a:rect r="r" b="b" t="t" l="l"/>
            <a:pathLst>
              <a:path h="5891514" w="8371601">
                <a:moveTo>
                  <a:pt x="0" y="0"/>
                </a:moveTo>
                <a:lnTo>
                  <a:pt x="8371602" y="0"/>
                </a:lnTo>
                <a:lnTo>
                  <a:pt x="8371602" y="5891515"/>
                </a:lnTo>
                <a:lnTo>
                  <a:pt x="0" y="5891515"/>
                </a:lnTo>
                <a:lnTo>
                  <a:pt x="0" y="0"/>
                </a:lnTo>
                <a:close/>
              </a:path>
            </a:pathLst>
          </a:custGeom>
          <a:blipFill>
            <a:blip r:embed="rId5"/>
            <a:stretch>
              <a:fillRect l="0" t="0" r="0" b="0"/>
            </a:stretch>
          </a:blipFill>
        </p:spPr>
      </p:sp>
      <p:sp>
        <p:nvSpPr>
          <p:cNvPr name="TextBox 5" id="5"/>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VISUALIZATION</a:t>
            </a:r>
          </a:p>
        </p:txBody>
      </p:sp>
      <p:sp>
        <p:nvSpPr>
          <p:cNvPr name="TextBox 6" id="6"/>
          <p:cNvSpPr txBox="true"/>
          <p:nvPr/>
        </p:nvSpPr>
        <p:spPr>
          <a:xfrm rot="0">
            <a:off x="1028700" y="1589600"/>
            <a:ext cx="12582472" cy="1551522"/>
          </a:xfrm>
          <a:prstGeom prst="rect">
            <a:avLst/>
          </a:prstGeom>
        </p:spPr>
        <p:txBody>
          <a:bodyPr anchor="t" rtlCol="false" tIns="0" lIns="0" bIns="0" rIns="0">
            <a:spAutoFit/>
          </a:bodyPr>
          <a:lstStyle/>
          <a:p>
            <a:pPr algn="l">
              <a:lnSpc>
                <a:spcPts val="4678"/>
              </a:lnSpc>
            </a:pPr>
            <a:r>
              <a:rPr lang="en-US" sz="3341" b="true">
                <a:solidFill>
                  <a:srgbClr val="FFFFFF"/>
                </a:solidFill>
                <a:latin typeface="Canva Sans Bold"/>
                <a:ea typeface="Canva Sans Bold"/>
                <a:cs typeface="Canva Sans Bold"/>
                <a:sym typeface="Canva Sans Bold"/>
              </a:rPr>
              <a:t>P</a:t>
            </a:r>
            <a:r>
              <a:rPr lang="en-US" sz="3341" b="true">
                <a:solidFill>
                  <a:srgbClr val="FFFFFF"/>
                </a:solidFill>
                <a:latin typeface="Canva Sans Bold"/>
                <a:ea typeface="Canva Sans Bold"/>
                <a:cs typeface="Canva Sans Bold"/>
                <a:sym typeface="Canva Sans Bold"/>
              </a:rPr>
              <a:t>lots</a:t>
            </a:r>
          </a:p>
          <a:p>
            <a:pPr algn="l" marL="591880" indent="-295940" lvl="1">
              <a:lnSpc>
                <a:spcPts val="3838"/>
              </a:lnSpc>
              <a:buAutoNum type="arabicPeriod" startAt="1"/>
            </a:pPr>
            <a:r>
              <a:rPr lang="en-US" sz="2741">
                <a:solidFill>
                  <a:srgbClr val="FFFFFF"/>
                </a:solidFill>
                <a:latin typeface="Canva Sans"/>
                <a:ea typeface="Canva Sans"/>
                <a:cs typeface="Canva Sans"/>
                <a:sym typeface="Canva Sans"/>
              </a:rPr>
              <a:t>T</a:t>
            </a:r>
            <a:r>
              <a:rPr lang="en-US" sz="2741">
                <a:solidFill>
                  <a:srgbClr val="FFFFFF"/>
                </a:solidFill>
                <a:latin typeface="Canva Sans"/>
                <a:ea typeface="Canva Sans"/>
                <a:cs typeface="Canva Sans"/>
                <a:sym typeface="Canva Sans"/>
              </a:rPr>
              <a:t>raining vs. Validation Accuracy:</a:t>
            </a:r>
          </a:p>
          <a:p>
            <a:pPr algn="l" marL="1183759" indent="-394586" lvl="2">
              <a:lnSpc>
                <a:spcPts val="3838"/>
              </a:lnSpc>
              <a:spcBef>
                <a:spcPct val="0"/>
              </a:spcBef>
              <a:buFont typeface="Arial"/>
              <a:buChar char="⚬"/>
            </a:pPr>
            <a:r>
              <a:rPr lang="en-US" sz="2741">
                <a:solidFill>
                  <a:srgbClr val="FFFFFF"/>
                </a:solidFill>
                <a:latin typeface="Canva Sans"/>
                <a:ea typeface="Canva Sans"/>
                <a:cs typeface="Canva Sans"/>
                <a:sym typeface="Canva Sans"/>
              </a:rPr>
              <a:t>Shows how accuracy improves over epochs.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4796211" y="3259763"/>
            <a:ext cx="9197272" cy="6587546"/>
          </a:xfrm>
          <a:custGeom>
            <a:avLst/>
            <a:gdLst/>
            <a:ahLst/>
            <a:cxnLst/>
            <a:rect r="r" b="b" t="t" l="l"/>
            <a:pathLst>
              <a:path h="6587546" w="9197272">
                <a:moveTo>
                  <a:pt x="0" y="0"/>
                </a:moveTo>
                <a:lnTo>
                  <a:pt x="9197272" y="0"/>
                </a:lnTo>
                <a:lnTo>
                  <a:pt x="9197272" y="6587547"/>
                </a:lnTo>
                <a:lnTo>
                  <a:pt x="0" y="6587547"/>
                </a:lnTo>
                <a:lnTo>
                  <a:pt x="0" y="0"/>
                </a:lnTo>
                <a:close/>
              </a:path>
            </a:pathLst>
          </a:custGeom>
          <a:blipFill>
            <a:blip r:embed="rId5"/>
            <a:stretch>
              <a:fillRect l="0" t="0" r="0" b="0"/>
            </a:stretch>
          </a:blipFill>
        </p:spPr>
      </p:sp>
      <p:sp>
        <p:nvSpPr>
          <p:cNvPr name="TextBox 8" id="8"/>
          <p:cNvSpPr txBox="true"/>
          <p:nvPr/>
        </p:nvSpPr>
        <p:spPr>
          <a:xfrm rot="0">
            <a:off x="1395283"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VISUALIZATION</a:t>
            </a:r>
          </a:p>
        </p:txBody>
      </p:sp>
      <p:sp>
        <p:nvSpPr>
          <p:cNvPr name="TextBox 9" id="9"/>
          <p:cNvSpPr txBox="true"/>
          <p:nvPr/>
        </p:nvSpPr>
        <p:spPr>
          <a:xfrm rot="0">
            <a:off x="1028700" y="1442982"/>
            <a:ext cx="12582472" cy="2134452"/>
          </a:xfrm>
          <a:prstGeom prst="rect">
            <a:avLst/>
          </a:prstGeom>
        </p:spPr>
        <p:txBody>
          <a:bodyPr anchor="t" rtlCol="false" tIns="0" lIns="0" bIns="0" rIns="0">
            <a:spAutoFit/>
          </a:bodyPr>
          <a:lstStyle/>
          <a:p>
            <a:pPr algn="l">
              <a:lnSpc>
                <a:spcPts val="4678"/>
              </a:lnSpc>
            </a:pPr>
            <a:r>
              <a:rPr lang="en-US" sz="3341" b="true">
                <a:solidFill>
                  <a:srgbClr val="FFFFFF"/>
                </a:solidFill>
                <a:latin typeface="Canva Sans Bold"/>
                <a:ea typeface="Canva Sans Bold"/>
                <a:cs typeface="Canva Sans Bold"/>
                <a:sym typeface="Canva Sans Bold"/>
              </a:rPr>
              <a:t>P</a:t>
            </a:r>
            <a:r>
              <a:rPr lang="en-US" sz="3341" b="true">
                <a:solidFill>
                  <a:srgbClr val="FFFFFF"/>
                </a:solidFill>
                <a:latin typeface="Canva Sans Bold"/>
                <a:ea typeface="Canva Sans Bold"/>
                <a:cs typeface="Canva Sans Bold"/>
                <a:sym typeface="Canva Sans Bold"/>
              </a:rPr>
              <a:t>lots</a:t>
            </a:r>
          </a:p>
          <a:p>
            <a:pPr algn="l" marL="591880" indent="-295940" lvl="1">
              <a:lnSpc>
                <a:spcPts val="3838"/>
              </a:lnSpc>
              <a:buAutoNum type="arabicPeriod" startAt="1"/>
            </a:pPr>
            <a:r>
              <a:rPr lang="en-US" sz="2741">
                <a:solidFill>
                  <a:srgbClr val="FFFFFF"/>
                </a:solidFill>
                <a:latin typeface="Canva Sans"/>
                <a:ea typeface="Canva Sans"/>
                <a:cs typeface="Canva Sans"/>
                <a:sym typeface="Canva Sans"/>
              </a:rPr>
              <a:t>Train</a:t>
            </a:r>
            <a:r>
              <a:rPr lang="en-US" sz="2741">
                <a:solidFill>
                  <a:srgbClr val="FFFFFF"/>
                </a:solidFill>
                <a:latin typeface="Canva Sans"/>
                <a:ea typeface="Canva Sans"/>
                <a:cs typeface="Canva Sans"/>
                <a:sym typeface="Canva Sans"/>
              </a:rPr>
              <a:t>ing vs. Validation L</a:t>
            </a:r>
            <a:r>
              <a:rPr lang="en-US" sz="2741">
                <a:solidFill>
                  <a:srgbClr val="FFFFFF"/>
                </a:solidFill>
                <a:latin typeface="Canva Sans"/>
                <a:ea typeface="Canva Sans"/>
                <a:cs typeface="Canva Sans"/>
                <a:sym typeface="Canva Sans"/>
              </a:rPr>
              <a:t>oss:</a:t>
            </a:r>
          </a:p>
          <a:p>
            <a:pPr algn="l" marL="1183759" indent="-394586" lvl="2">
              <a:lnSpc>
                <a:spcPts val="3838"/>
              </a:lnSpc>
              <a:buFont typeface="Arial"/>
              <a:buChar char="⚬"/>
            </a:pPr>
            <a:r>
              <a:rPr lang="en-US" sz="2741">
                <a:solidFill>
                  <a:srgbClr val="FFFFFF"/>
                </a:solidFill>
                <a:latin typeface="Canva Sans"/>
                <a:ea typeface="Canva Sans"/>
                <a:cs typeface="Canva Sans"/>
                <a:sym typeface="Canva Sans"/>
              </a:rPr>
              <a:t>Shows h</a:t>
            </a:r>
            <a:r>
              <a:rPr lang="en-US" sz="2741">
                <a:solidFill>
                  <a:srgbClr val="FFFFFF"/>
                </a:solidFill>
                <a:latin typeface="Canva Sans"/>
                <a:ea typeface="Canva Sans"/>
                <a:cs typeface="Canva Sans"/>
                <a:sym typeface="Canva Sans"/>
              </a:rPr>
              <a:t>ow loss decreases over epochs.</a:t>
            </a:r>
          </a:p>
          <a:p>
            <a:pPr algn="l">
              <a:lnSpc>
                <a:spcPts val="4678"/>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95283" y="395181"/>
            <a:ext cx="10419173"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MODEL SAVING AND DEPLOYMENT</a:t>
            </a:r>
          </a:p>
        </p:txBody>
      </p:sp>
      <p:sp>
        <p:nvSpPr>
          <p:cNvPr name="TextBox 8" id="8"/>
          <p:cNvSpPr txBox="true"/>
          <p:nvPr/>
        </p:nvSpPr>
        <p:spPr>
          <a:xfrm rot="0">
            <a:off x="1395283" y="1647566"/>
            <a:ext cx="15775324" cy="7930732"/>
          </a:xfrm>
          <a:prstGeom prst="rect">
            <a:avLst/>
          </a:prstGeom>
        </p:spPr>
        <p:txBody>
          <a:bodyPr anchor="t" rtlCol="false" tIns="0" lIns="0" bIns="0" rIns="0">
            <a:spAutoFit/>
          </a:bodyPr>
          <a:lstStyle/>
          <a:p>
            <a:pPr algn="l">
              <a:lnSpc>
                <a:spcPts val="4678"/>
              </a:lnSpc>
            </a:pPr>
            <a:r>
              <a:rPr lang="en-US" sz="3341" b="true">
                <a:solidFill>
                  <a:srgbClr val="FFFFFF"/>
                </a:solidFill>
                <a:latin typeface="Canva Sans Bold"/>
                <a:ea typeface="Canva Sans Bold"/>
                <a:cs typeface="Canva Sans Bold"/>
                <a:sym typeface="Canva Sans Bold"/>
              </a:rPr>
              <a:t>Saving the Model</a:t>
            </a:r>
          </a:p>
          <a:p>
            <a:pPr algn="l" marL="635059" indent="-317529" lvl="1">
              <a:lnSpc>
                <a:spcPts val="4118"/>
              </a:lnSpc>
              <a:buFont typeface="Arial"/>
              <a:buChar char="•"/>
            </a:pPr>
            <a:r>
              <a:rPr lang="en-US" b="true" sz="2941">
                <a:solidFill>
                  <a:srgbClr val="FFFFFF"/>
                </a:solidFill>
                <a:latin typeface="Canva Sans Bold"/>
                <a:ea typeface="Canva Sans Bold"/>
                <a:cs typeface="Canva Sans Bold"/>
                <a:sym typeface="Canva Sans Bold"/>
              </a:rPr>
              <a:t>Purpose:</a:t>
            </a:r>
            <a:r>
              <a:rPr lang="en-US" sz="2941">
                <a:solidFill>
                  <a:srgbClr val="FFFFFF"/>
                </a:solidFill>
                <a:latin typeface="Canva Sans"/>
                <a:ea typeface="Canva Sans"/>
                <a:cs typeface="Canva Sans"/>
                <a:sym typeface="Canva Sans"/>
              </a:rPr>
              <a:t> Save the trained model for future use, avoiding the need to retrain.</a:t>
            </a:r>
          </a:p>
          <a:p>
            <a:pPr algn="l" marL="635059" indent="-317529" lvl="1">
              <a:lnSpc>
                <a:spcPts val="4118"/>
              </a:lnSpc>
              <a:buFont typeface="Arial"/>
              <a:buChar char="•"/>
            </a:pPr>
            <a:r>
              <a:rPr lang="en-US" b="true" sz="2941">
                <a:solidFill>
                  <a:srgbClr val="FFFFFF"/>
                </a:solidFill>
                <a:latin typeface="Canva Sans Bold"/>
                <a:ea typeface="Canva Sans Bold"/>
                <a:cs typeface="Canva Sans Bold"/>
                <a:sym typeface="Canva Sans Bold"/>
              </a:rPr>
              <a:t>File Format:</a:t>
            </a:r>
          </a:p>
          <a:p>
            <a:pPr algn="l" marL="1270117" indent="-423372" lvl="2">
              <a:lnSpc>
                <a:spcPts val="4118"/>
              </a:lnSpc>
              <a:buFont typeface="Arial"/>
              <a:buChar char="⚬"/>
            </a:pPr>
            <a:r>
              <a:rPr lang="en-US" sz="2941">
                <a:solidFill>
                  <a:srgbClr val="FFFFFF"/>
                </a:solidFill>
                <a:latin typeface="Canva Sans"/>
                <a:ea typeface="Canva Sans"/>
                <a:cs typeface="Canva Sans"/>
                <a:sym typeface="Canva Sans"/>
              </a:rPr>
              <a:t>Saved as model_file_with_sleep.keras.</a:t>
            </a:r>
          </a:p>
          <a:p>
            <a:pPr algn="l" marL="1270117" indent="-423372" lvl="2">
              <a:lnSpc>
                <a:spcPts val="4118"/>
              </a:lnSpc>
              <a:buFont typeface="Arial"/>
              <a:buChar char="⚬"/>
            </a:pPr>
            <a:r>
              <a:rPr lang="en-US" sz="2941">
                <a:solidFill>
                  <a:srgbClr val="FFFFFF"/>
                </a:solidFill>
                <a:latin typeface="Canva Sans"/>
                <a:ea typeface="Canva Sans"/>
                <a:cs typeface="Canva Sans"/>
                <a:sym typeface="Canva Sans"/>
              </a:rPr>
              <a:t>Best model saved as best_model_with_sleep.keras using ModelCheckpoint.</a:t>
            </a:r>
          </a:p>
          <a:p>
            <a:pPr algn="l">
              <a:lnSpc>
                <a:spcPts val="4118"/>
              </a:lnSpc>
            </a:pPr>
          </a:p>
          <a:p>
            <a:pPr algn="l">
              <a:lnSpc>
                <a:spcPts val="4678"/>
              </a:lnSpc>
            </a:pPr>
            <a:r>
              <a:rPr lang="en-US" sz="3341" b="true">
                <a:solidFill>
                  <a:srgbClr val="FFFFFF"/>
                </a:solidFill>
                <a:latin typeface="Canva Sans Bold"/>
                <a:ea typeface="Canva Sans Bold"/>
                <a:cs typeface="Canva Sans Bold"/>
                <a:sym typeface="Canva Sans Bold"/>
              </a:rPr>
              <a:t>De</a:t>
            </a:r>
            <a:r>
              <a:rPr lang="en-US" sz="3341" b="true">
                <a:solidFill>
                  <a:srgbClr val="FFFFFF"/>
                </a:solidFill>
                <a:latin typeface="Canva Sans Bold"/>
                <a:ea typeface="Canva Sans Bold"/>
                <a:cs typeface="Canva Sans Bold"/>
                <a:sym typeface="Canva Sans Bold"/>
              </a:rPr>
              <a:t>ployment</a:t>
            </a:r>
          </a:p>
          <a:p>
            <a:pPr algn="l" marL="635059" indent="-317529" lvl="1">
              <a:lnSpc>
                <a:spcPts val="4118"/>
              </a:lnSpc>
              <a:buFont typeface="Arial"/>
              <a:buChar char="•"/>
            </a:pPr>
            <a:r>
              <a:rPr lang="en-US" b="true" sz="2941">
                <a:solidFill>
                  <a:srgbClr val="FFFFFF"/>
                </a:solidFill>
                <a:latin typeface="Canva Sans Bold"/>
                <a:ea typeface="Canva Sans Bold"/>
                <a:cs typeface="Canva Sans Bold"/>
                <a:sym typeface="Canva Sans Bold"/>
              </a:rPr>
              <a:t>Real-Time Applications:</a:t>
            </a:r>
          </a:p>
          <a:p>
            <a:pPr algn="l" marL="1270117" indent="-423372" lvl="2">
              <a:lnSpc>
                <a:spcPts val="4118"/>
              </a:lnSpc>
              <a:buFont typeface="Arial"/>
              <a:buChar char="⚬"/>
            </a:pPr>
            <a:r>
              <a:rPr lang="en-US" sz="2941">
                <a:solidFill>
                  <a:srgbClr val="FFFFFF"/>
                </a:solidFill>
                <a:latin typeface="Canva Sans"/>
                <a:ea typeface="Canva Sans"/>
                <a:cs typeface="Canva Sans"/>
                <a:sym typeface="Canva Sans"/>
              </a:rPr>
              <a:t>The model can be integrated into systems that require real-time emotion recognition.</a:t>
            </a:r>
          </a:p>
          <a:p>
            <a:pPr algn="l">
              <a:lnSpc>
                <a:spcPts val="4678"/>
              </a:lnSpc>
            </a:pPr>
            <a:r>
              <a:rPr lang="en-US" sz="3341" b="true">
                <a:solidFill>
                  <a:srgbClr val="FFFFFF"/>
                </a:solidFill>
                <a:latin typeface="Canva Sans Bold"/>
                <a:ea typeface="Canva Sans Bold"/>
                <a:cs typeface="Canva Sans Bold"/>
                <a:sym typeface="Canva Sans Bold"/>
              </a:rPr>
              <a:t>Example Use Cases</a:t>
            </a:r>
          </a:p>
          <a:p>
            <a:pPr algn="l" marL="635059" indent="-317529" lvl="1">
              <a:lnSpc>
                <a:spcPts val="4118"/>
              </a:lnSpc>
              <a:buFont typeface="Arial"/>
              <a:buChar char="•"/>
            </a:pPr>
            <a:r>
              <a:rPr lang="en-US" sz="2941">
                <a:solidFill>
                  <a:srgbClr val="FFFFFF"/>
                </a:solidFill>
                <a:latin typeface="Canva Sans"/>
                <a:ea typeface="Canva Sans"/>
                <a:cs typeface="Canva Sans"/>
                <a:sym typeface="Canva Sans"/>
              </a:rPr>
              <a:t>Driver Drowsiness Detection</a:t>
            </a:r>
          </a:p>
          <a:p>
            <a:pPr algn="l" marL="635059" indent="-317529" lvl="1">
              <a:lnSpc>
                <a:spcPts val="4118"/>
              </a:lnSpc>
              <a:buFont typeface="Arial"/>
              <a:buChar char="•"/>
            </a:pPr>
            <a:r>
              <a:rPr lang="en-US" sz="2941">
                <a:solidFill>
                  <a:srgbClr val="FFFFFF"/>
                </a:solidFill>
                <a:latin typeface="Canva Sans"/>
                <a:ea typeface="Canva Sans"/>
                <a:cs typeface="Canva Sans"/>
                <a:sym typeface="Canva Sans"/>
              </a:rPr>
              <a:t>Human-Computer Interaction</a:t>
            </a:r>
          </a:p>
          <a:p>
            <a:pPr algn="l" marL="635059" indent="-317529" lvl="1">
              <a:lnSpc>
                <a:spcPts val="4118"/>
              </a:lnSpc>
              <a:buFont typeface="Arial"/>
              <a:buChar char="•"/>
            </a:pPr>
            <a:r>
              <a:rPr lang="en-US" sz="2941">
                <a:solidFill>
                  <a:srgbClr val="FFFFFF"/>
                </a:solidFill>
                <a:latin typeface="Canva Sans"/>
                <a:ea typeface="Canva Sans"/>
                <a:cs typeface="Canva Sans"/>
                <a:sym typeface="Canva Sans"/>
              </a:rPr>
              <a:t>Healthcare</a:t>
            </a:r>
          </a:p>
          <a:p>
            <a:pPr algn="l" marL="635059" indent="-317529" lvl="1">
              <a:lnSpc>
                <a:spcPts val="4118"/>
              </a:lnSpc>
              <a:spcBef>
                <a:spcPct val="0"/>
              </a:spcBef>
              <a:buFont typeface="Arial"/>
              <a:buChar char="•"/>
            </a:pPr>
            <a:r>
              <a:rPr lang="en-US" sz="2941">
                <a:solidFill>
                  <a:srgbClr val="FFFFFF"/>
                </a:solidFill>
                <a:latin typeface="Canva Sans"/>
                <a:ea typeface="Canva Sans"/>
                <a:cs typeface="Canva Sans"/>
                <a:sym typeface="Canva Sans"/>
              </a:rPr>
              <a:t>Security and Surveillance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95283" y="1638706"/>
            <a:ext cx="12240311" cy="7277295"/>
          </a:xfrm>
          <a:custGeom>
            <a:avLst/>
            <a:gdLst/>
            <a:ahLst/>
            <a:cxnLst/>
            <a:rect r="r" b="b" t="t" l="l"/>
            <a:pathLst>
              <a:path h="7277295" w="12240311">
                <a:moveTo>
                  <a:pt x="0" y="0"/>
                </a:moveTo>
                <a:lnTo>
                  <a:pt x="12240311" y="0"/>
                </a:lnTo>
                <a:lnTo>
                  <a:pt x="12240311" y="7277296"/>
                </a:lnTo>
                <a:lnTo>
                  <a:pt x="0" y="7277296"/>
                </a:lnTo>
                <a:lnTo>
                  <a:pt x="0" y="0"/>
                </a:lnTo>
                <a:close/>
              </a:path>
            </a:pathLst>
          </a:custGeom>
          <a:blipFill>
            <a:blip r:embed="rId5"/>
            <a:stretch>
              <a:fillRect l="0" t="0" r="0" b="-4703"/>
            </a:stretch>
          </a:blipFill>
        </p:spPr>
      </p:sp>
      <p:sp>
        <p:nvSpPr>
          <p:cNvPr name="TextBox 8" id="8"/>
          <p:cNvSpPr txBox="true"/>
          <p:nvPr/>
        </p:nvSpPr>
        <p:spPr>
          <a:xfrm rot="0">
            <a:off x="1395283" y="395181"/>
            <a:ext cx="10419173"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LIVE TEST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33586"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CHALLENGES FACED</a:t>
            </a:r>
          </a:p>
        </p:txBody>
      </p:sp>
      <p:sp>
        <p:nvSpPr>
          <p:cNvPr name="TextBox 8" id="8"/>
          <p:cNvSpPr txBox="true"/>
          <p:nvPr/>
        </p:nvSpPr>
        <p:spPr>
          <a:xfrm rot="0">
            <a:off x="1333586" y="1797685"/>
            <a:ext cx="15076529" cy="7460615"/>
          </a:xfrm>
          <a:prstGeom prst="rect">
            <a:avLst/>
          </a:prstGeom>
        </p:spPr>
        <p:txBody>
          <a:bodyPr anchor="t" rtlCol="false" tIns="0" lIns="0" bIns="0" rIns="0">
            <a:spAutoFit/>
          </a:bodyPr>
          <a:lstStyle/>
          <a:p>
            <a:pPr algn="l">
              <a:lnSpc>
                <a:spcPts val="4199"/>
              </a:lnSpc>
            </a:pPr>
            <a:r>
              <a:rPr lang="en-US" sz="2999" b="true">
                <a:solidFill>
                  <a:srgbClr val="FFFFFF"/>
                </a:solidFill>
                <a:latin typeface="Canva Sans Bold"/>
                <a:ea typeface="Canva Sans Bold"/>
                <a:cs typeface="Canva Sans Bold"/>
                <a:sym typeface="Canva Sans Bold"/>
              </a:rPr>
              <a:t>Dataset Issues</a:t>
            </a:r>
          </a:p>
          <a:p>
            <a:pPr algn="l">
              <a:lnSpc>
                <a:spcPts val="3919"/>
              </a:lnSpc>
            </a:pPr>
            <a:r>
              <a:rPr lang="en-US" sz="2799">
                <a:solidFill>
                  <a:srgbClr val="FFFFFF"/>
                </a:solidFill>
                <a:latin typeface="Canva Sans"/>
                <a:ea typeface="Canva Sans"/>
                <a:cs typeface="Canva Sans"/>
                <a:sym typeface="Canva Sans"/>
              </a:rPr>
              <a:t>Problem:</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Difficulty in creating a high-quality dataset for the Sleep class.</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Loss of image quality when resizing images to (48, 48).</a:t>
            </a:r>
          </a:p>
          <a:p>
            <a:pPr algn="l">
              <a:lnSpc>
                <a:spcPts val="3919"/>
              </a:lnSpc>
            </a:pPr>
            <a:r>
              <a:rPr lang="en-US" sz="2799">
                <a:solidFill>
                  <a:srgbClr val="FFFFFF"/>
                </a:solidFill>
                <a:latin typeface="Canva Sans"/>
                <a:ea typeface="Canva Sans"/>
                <a:cs typeface="Canva Sans"/>
                <a:sym typeface="Canva Sans"/>
              </a:rPr>
              <a:t>Impact:</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Reduced model performance on the Sleep class due to poor-quality images.</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Potential bias in the dataset affecting overall accuracy.</a:t>
            </a:r>
          </a:p>
          <a:p>
            <a:pPr algn="l">
              <a:lnSpc>
                <a:spcPts val="4199"/>
              </a:lnSpc>
            </a:pPr>
            <a:r>
              <a:rPr lang="en-US" sz="2999" b="true">
                <a:solidFill>
                  <a:srgbClr val="FFFFFF"/>
                </a:solidFill>
                <a:latin typeface="Canva Sans Bold"/>
                <a:ea typeface="Canva Sans Bold"/>
                <a:cs typeface="Canva Sans Bold"/>
                <a:sym typeface="Canva Sans Bold"/>
              </a:rPr>
              <a:t>Class Imbalance</a:t>
            </a:r>
          </a:p>
          <a:p>
            <a:pPr algn="l">
              <a:lnSpc>
                <a:spcPts val="3919"/>
              </a:lnSpc>
            </a:pPr>
            <a:r>
              <a:rPr lang="en-US" sz="2799">
                <a:solidFill>
                  <a:srgbClr val="FFFFFF"/>
                </a:solidFill>
                <a:latin typeface="Canva Sans"/>
                <a:ea typeface="Canva Sans"/>
                <a:cs typeface="Canva Sans"/>
                <a:sym typeface="Canva Sans"/>
              </a:rPr>
              <a:t>Problem:</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Some emotion classes (e.g., Disgust, Sleep) had fewer samples compared to others (e.g., Happy, Sad).</a:t>
            </a:r>
          </a:p>
          <a:p>
            <a:pPr algn="l">
              <a:lnSpc>
                <a:spcPts val="3919"/>
              </a:lnSpc>
            </a:pPr>
            <a:r>
              <a:rPr lang="en-US" sz="2799">
                <a:solidFill>
                  <a:srgbClr val="FFFFFF"/>
                </a:solidFill>
                <a:latin typeface="Canva Sans"/>
                <a:ea typeface="Canva Sans"/>
                <a:cs typeface="Canva Sans"/>
                <a:sym typeface="Canva Sans"/>
              </a:rPr>
              <a:t>Impact:</a:t>
            </a:r>
          </a:p>
          <a:p>
            <a:pPr algn="l" marL="604519" indent="-302260" lvl="1">
              <a:lnSpc>
                <a:spcPts val="3919"/>
              </a:lnSpc>
              <a:buFont typeface="Arial"/>
              <a:buChar char="•"/>
            </a:pPr>
            <a:r>
              <a:rPr lang="en-US" sz="2799">
                <a:solidFill>
                  <a:srgbClr val="FFFFFF"/>
                </a:solidFill>
                <a:latin typeface="Canva Sans"/>
                <a:ea typeface="Canva Sans"/>
                <a:cs typeface="Canva Sans"/>
                <a:sym typeface="Canva Sans"/>
              </a:rPr>
              <a:t>The model may be biased toward classes with more samples, leading to lower accuracy for a few classes.</a:t>
            </a:r>
          </a:p>
          <a:p>
            <a:pPr algn="l">
              <a:lnSpc>
                <a:spcPts val="391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174506" y="395181"/>
            <a:ext cx="8514745" cy="893255"/>
          </a:xfrm>
          <a:prstGeom prst="rect">
            <a:avLst/>
          </a:prstGeom>
        </p:spPr>
        <p:txBody>
          <a:bodyPr anchor="t" rtlCol="false" tIns="0" lIns="0" bIns="0" rIns="0">
            <a:spAutoFit/>
          </a:bodyPr>
          <a:lstStyle/>
          <a:p>
            <a:pPr algn="l">
              <a:lnSpc>
                <a:spcPts val="6708"/>
              </a:lnSpc>
            </a:pPr>
            <a:r>
              <a:rPr lang="en-US" sz="6513">
                <a:solidFill>
                  <a:srgbClr val="FFFFFF"/>
                </a:solidFill>
                <a:latin typeface="TT Octosquares Compressed"/>
                <a:ea typeface="TT Octosquares Compressed"/>
                <a:cs typeface="TT Octosquares Compressed"/>
                <a:sym typeface="TT Octosquares Compressed"/>
              </a:rPr>
              <a:t>FUTURE WORK</a:t>
            </a:r>
          </a:p>
        </p:txBody>
      </p:sp>
      <p:sp>
        <p:nvSpPr>
          <p:cNvPr name="TextBox 8" id="8"/>
          <p:cNvSpPr txBox="true"/>
          <p:nvPr/>
        </p:nvSpPr>
        <p:spPr>
          <a:xfrm rot="0">
            <a:off x="729546" y="1240812"/>
            <a:ext cx="16853110" cy="8240051"/>
          </a:xfrm>
          <a:prstGeom prst="rect">
            <a:avLst/>
          </a:prstGeom>
        </p:spPr>
        <p:txBody>
          <a:bodyPr anchor="t" rtlCol="false" tIns="0" lIns="0" bIns="0" rIns="0">
            <a:spAutoFit/>
          </a:bodyPr>
          <a:lstStyle/>
          <a:p>
            <a:pPr algn="l" marL="499212" indent="-249606" lvl="1">
              <a:lnSpc>
                <a:spcPts val="3237"/>
              </a:lnSpc>
              <a:buAutoNum type="arabicPeriod" startAt="1"/>
            </a:pPr>
            <a:r>
              <a:rPr lang="en-US" b="true" sz="2312">
                <a:solidFill>
                  <a:srgbClr val="FFFFFF"/>
                </a:solidFill>
                <a:latin typeface="Canva Sans Bold"/>
                <a:ea typeface="Canva Sans Bold"/>
                <a:cs typeface="Canva Sans Bold"/>
                <a:sym typeface="Canva Sans Bold"/>
              </a:rPr>
              <a:t> Improve </a:t>
            </a:r>
            <a:r>
              <a:rPr lang="en-US" b="true" sz="2312">
                <a:solidFill>
                  <a:srgbClr val="FFFFFF"/>
                </a:solidFill>
                <a:latin typeface="Canva Sans Bold"/>
                <a:ea typeface="Canva Sans Bold"/>
                <a:cs typeface="Canva Sans Bold"/>
                <a:sym typeface="Canva Sans Bold"/>
              </a:rPr>
              <a:t>Dataset Quality</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Plan:</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Use advanced image preprocessing techniques to minimize quality loss during resizing.</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Expected Outcome:</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Better representation of the Sleep class, leading to improved model performance.</a:t>
            </a:r>
          </a:p>
          <a:p>
            <a:pPr algn="l" marL="499212" indent="-249606" lvl="1">
              <a:lnSpc>
                <a:spcPts val="3237"/>
              </a:lnSpc>
              <a:buAutoNum type="arabicPeriod" startAt="1"/>
            </a:pPr>
            <a:r>
              <a:rPr lang="en-US" b="true" sz="2312">
                <a:solidFill>
                  <a:srgbClr val="FFFFFF"/>
                </a:solidFill>
                <a:latin typeface="Canva Sans Bold"/>
                <a:ea typeface="Canva Sans Bold"/>
                <a:cs typeface="Canva Sans Bold"/>
                <a:sym typeface="Canva Sans Bold"/>
              </a:rPr>
              <a:t>Enhance Model Accuracy</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Plan:</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Retrain the model with an improved dataset.</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Expected Outcome:</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Higher accuracy than all models we trained.</a:t>
            </a:r>
          </a:p>
          <a:p>
            <a:pPr algn="l" marL="499212" indent="-249606" lvl="1">
              <a:lnSpc>
                <a:spcPts val="3237"/>
              </a:lnSpc>
              <a:buAutoNum type="arabicPeriod" startAt="1"/>
            </a:pPr>
            <a:r>
              <a:rPr lang="en-US" b="true" sz="2312">
                <a:solidFill>
                  <a:srgbClr val="FFFFFF"/>
                </a:solidFill>
                <a:latin typeface="Canva Sans Bold"/>
                <a:ea typeface="Canva Sans Bold"/>
                <a:cs typeface="Canva Sans Bold"/>
                <a:sym typeface="Canva Sans Bold"/>
              </a:rPr>
              <a:t>Integ</a:t>
            </a:r>
            <a:r>
              <a:rPr lang="en-US" b="true" sz="2312">
                <a:solidFill>
                  <a:srgbClr val="FFFFFF"/>
                </a:solidFill>
                <a:latin typeface="Canva Sans Bold"/>
                <a:ea typeface="Canva Sans Bold"/>
                <a:cs typeface="Canva Sans Bold"/>
                <a:sym typeface="Canva Sans Bold"/>
              </a:rPr>
              <a:t>rate Audio Feedback</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Plan:</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Add an audio feedback feature to provide real-time emotion predictions.</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For example, the system could say, "He looks happy!" or "He seems tired."</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Expected Outcome:</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Enhanced user experience, especially for visually impaired users.</a:t>
            </a:r>
          </a:p>
          <a:p>
            <a:pPr algn="l" marL="499212" indent="-249606" lvl="1">
              <a:lnSpc>
                <a:spcPts val="3237"/>
              </a:lnSpc>
              <a:buAutoNum type="arabicPeriod" startAt="1"/>
            </a:pPr>
            <a:r>
              <a:rPr lang="en-US" b="true" sz="2312">
                <a:solidFill>
                  <a:srgbClr val="FFFFFF"/>
                </a:solidFill>
                <a:latin typeface="Canva Sans Bold"/>
                <a:ea typeface="Canva Sans Bold"/>
                <a:cs typeface="Canva Sans Bold"/>
                <a:sym typeface="Canva Sans Bold"/>
              </a:rPr>
              <a:t> Real-Time Deployment</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Plan:</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Deploy the model in real-time applications.</a:t>
            </a:r>
          </a:p>
          <a:p>
            <a:pPr algn="l" marL="912042" indent="-304014" lvl="2">
              <a:lnSpc>
                <a:spcPts val="2957"/>
              </a:lnSpc>
              <a:buAutoNum type="alphaLcPeriod" startAt="1"/>
            </a:pPr>
            <a:r>
              <a:rPr lang="en-US" sz="2112">
                <a:solidFill>
                  <a:srgbClr val="FFFFFF"/>
                </a:solidFill>
                <a:latin typeface="Canva Sans"/>
                <a:ea typeface="Canva Sans"/>
                <a:cs typeface="Canva Sans"/>
                <a:sym typeface="Canva Sans"/>
              </a:rPr>
              <a:t>Expected Outcome:</a:t>
            </a:r>
          </a:p>
          <a:p>
            <a:pPr algn="l" marL="1368063" indent="-342016" lvl="3">
              <a:lnSpc>
                <a:spcPts val="2957"/>
              </a:lnSpc>
              <a:buAutoNum type="romanLcPeriod" startAt="1"/>
            </a:pPr>
            <a:r>
              <a:rPr lang="en-US" sz="2112">
                <a:solidFill>
                  <a:srgbClr val="FFFFFF"/>
                </a:solidFill>
                <a:latin typeface="Canva Sans"/>
                <a:ea typeface="Canva Sans"/>
                <a:cs typeface="Canva Sans"/>
                <a:sym typeface="Canva Sans"/>
              </a:rPr>
              <a:t> </a:t>
            </a:r>
            <a:r>
              <a:rPr lang="en-US" sz="2112">
                <a:solidFill>
                  <a:srgbClr val="FFFFFF"/>
                </a:solidFill>
                <a:latin typeface="Canva Sans"/>
                <a:ea typeface="Canva Sans"/>
                <a:cs typeface="Canva Sans"/>
                <a:sym typeface="Canva Sans"/>
              </a:rPr>
              <a:t>A fully functional emotion recognition system for real-world use.</a:t>
            </a:r>
          </a:p>
          <a:p>
            <a:pPr algn="l">
              <a:lnSpc>
                <a:spcPts val="2957"/>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17631481" y="8597471"/>
            <a:ext cx="924223" cy="397435"/>
            <a:chOff x="0" y="0"/>
            <a:chExt cx="1347239" cy="579341"/>
          </a:xfrm>
        </p:grpSpPr>
        <p:sp>
          <p:nvSpPr>
            <p:cNvPr name="Freeform 5" id="5"/>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6" id="6"/>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843386"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061681" y="3220694"/>
            <a:ext cx="10164638" cy="3464612"/>
          </a:xfrm>
          <a:prstGeom prst="rect">
            <a:avLst/>
          </a:prstGeom>
        </p:spPr>
        <p:txBody>
          <a:bodyPr anchor="t" rtlCol="false" tIns="0" lIns="0" bIns="0" rIns="0">
            <a:spAutoFit/>
          </a:bodyPr>
          <a:lstStyle/>
          <a:p>
            <a:pPr algn="ctr">
              <a:lnSpc>
                <a:spcPts val="28402"/>
              </a:lnSpc>
              <a:spcBef>
                <a:spcPct val="0"/>
              </a:spcBef>
            </a:pPr>
            <a:r>
              <a:rPr lang="en-US" sz="20287">
                <a:solidFill>
                  <a:srgbClr val="FFFFFF"/>
                </a:solidFill>
                <a:latin typeface="TT Octosquares Compressed"/>
                <a:ea typeface="TT Octosquares Compressed"/>
                <a:cs typeface="TT Octosquares Compressed"/>
                <a:sym typeface="TT Octosquares Compressed"/>
              </a:rPr>
              <a:t>THANK YOU</a:t>
            </a:r>
          </a:p>
        </p:txBody>
      </p:sp>
      <p:sp>
        <p:nvSpPr>
          <p:cNvPr name="Freeform 9" id="9"/>
          <p:cNvSpPr/>
          <p:nvPr/>
        </p:nvSpPr>
        <p:spPr>
          <a:xfrm flipH="false" flipV="false" rot="0">
            <a:off x="210552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9008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10800000">
            <a:off x="14226319"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10800000">
            <a:off x="15323726"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10800000">
            <a:off x="16268205"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DAGhE5or3g8</dc:identifier>
  <dcterms:modified xsi:type="dcterms:W3CDTF">2011-08-01T06:04:30Z</dcterms:modified>
  <cp:revision>1</cp:revision>
  <dc:title>INTRODUCTION</dc:title>
</cp:coreProperties>
</file>